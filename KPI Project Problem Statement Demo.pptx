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69" r:id="rId6"/>
  </p:sldMasterIdLst>
  <p:notesMasterIdLst>
    <p:notesMasterId r:id="rId22"/>
  </p:notesMasterIdLst>
  <p:sldIdLst>
    <p:sldId id="256" r:id="rId7"/>
    <p:sldId id="799" r:id="rId8"/>
    <p:sldId id="785" r:id="rId9"/>
    <p:sldId id="783" r:id="rId10"/>
    <p:sldId id="788" r:id="rId11"/>
    <p:sldId id="795" r:id="rId12"/>
    <p:sldId id="786" r:id="rId13"/>
    <p:sldId id="787" r:id="rId14"/>
    <p:sldId id="798" r:id="rId15"/>
    <p:sldId id="793" r:id="rId16"/>
    <p:sldId id="797" r:id="rId17"/>
    <p:sldId id="796" r:id="rId18"/>
    <p:sldId id="789" r:id="rId19"/>
    <p:sldId id="790" r:id="rId20"/>
    <p:sldId id="79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415" userDrawn="1">
          <p15:clr>
            <a:srgbClr val="A4A3A4"/>
          </p15:clr>
        </p15:guide>
        <p15:guide id="3" orient="horz" pos="777" userDrawn="1">
          <p15:clr>
            <a:srgbClr val="A4A3A4"/>
          </p15:clr>
        </p15:guide>
        <p15:guide id="4" orient="horz" pos="3974" userDrawn="1">
          <p15:clr>
            <a:srgbClr val="A4A3A4"/>
          </p15:clr>
        </p15:guide>
        <p15:guide id="6" pos="73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dda, Konda raju K" initials="BKrK" lastIdx="1" clrIdx="0">
    <p:extLst>
      <p:ext uri="{19B8F6BF-5375-455C-9EA6-DF929625EA0E}">
        <p15:presenceInfo xmlns:p15="http://schemas.microsoft.com/office/powerpoint/2012/main" userId="S-1-5-21-1993962763-688789844-682003330-638297" providerId="AD"/>
      </p:ext>
    </p:extLst>
  </p:cmAuthor>
  <p:cmAuthor id="2" name="Alagarsamy, Ganesan" initials="AG" lastIdx="2" clrIdx="1">
    <p:extLst>
      <p:ext uri="{19B8F6BF-5375-455C-9EA6-DF929625EA0E}">
        <p15:presenceInfo xmlns:p15="http://schemas.microsoft.com/office/powerpoint/2012/main" userId="S-1-5-21-1993962763-688789844-682003330-10614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B980"/>
    <a:srgbClr val="9999FF"/>
    <a:srgbClr val="DCEBF8"/>
    <a:srgbClr val="CBE1F5"/>
    <a:srgbClr val="AED1F0"/>
    <a:srgbClr val="11D607"/>
    <a:srgbClr val="97C5EB"/>
    <a:srgbClr val="BFBFBF"/>
    <a:srgbClr val="CBCDE0"/>
    <a:srgbClr val="E7E8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85623" autoAdjust="0"/>
  </p:normalViewPr>
  <p:slideViewPr>
    <p:cSldViewPr>
      <p:cViewPr varScale="1">
        <p:scale>
          <a:sx n="86" d="100"/>
          <a:sy n="86" d="100"/>
        </p:scale>
        <p:origin x="422" y="72"/>
      </p:cViewPr>
      <p:guideLst>
        <p:guide orient="horz" pos="210"/>
        <p:guide pos="415"/>
        <p:guide orient="horz" pos="777"/>
        <p:guide orient="horz" pos="3974"/>
        <p:guide pos="7378"/>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88C15F-B617-4951-96DB-268274AD588C}" type="datetimeFigureOut">
              <a:rPr lang="en-US" smtClean="0"/>
              <a:t>7/28/2022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6437-7603-4891-AB37-59B891118A55}" type="slidenum">
              <a:rPr lang="en-US" smtClean="0"/>
              <a:t>‹#›</a:t>
            </a:fld>
            <a:endParaRPr lang="en-US"/>
          </a:p>
        </p:txBody>
      </p:sp>
    </p:spTree>
    <p:extLst>
      <p:ext uri="{BB962C8B-B14F-4D97-AF65-F5344CB8AC3E}">
        <p14:creationId xmlns:p14="http://schemas.microsoft.com/office/powerpoint/2010/main" val="1620571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month on the slide</a:t>
            </a:r>
          </a:p>
        </p:txBody>
      </p:sp>
      <p:sp>
        <p:nvSpPr>
          <p:cNvPr id="4" name="Slide Number Placeholder 3"/>
          <p:cNvSpPr>
            <a:spLocks noGrp="1"/>
          </p:cNvSpPr>
          <p:nvPr>
            <p:ph type="sldNum" sz="quarter" idx="10"/>
          </p:nvPr>
        </p:nvSpPr>
        <p:spPr/>
        <p:txBody>
          <a:bodyPr/>
          <a:lstStyle/>
          <a:p>
            <a:fld id="{40F96437-7603-4891-AB37-59B891118A55}" type="slidenum">
              <a:rPr lang="en-US" smtClean="0"/>
              <a:t>1</a:t>
            </a:fld>
            <a:endParaRPr lang="en-US"/>
          </a:p>
        </p:txBody>
      </p:sp>
    </p:spTree>
    <p:extLst>
      <p:ext uri="{BB962C8B-B14F-4D97-AF65-F5344CB8AC3E}">
        <p14:creationId xmlns:p14="http://schemas.microsoft.com/office/powerpoint/2010/main" val="2211192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76" y="0"/>
            <a:ext cx="12187237" cy="6858000"/>
          </a:xfrm>
          <a:prstGeom prst="rect">
            <a:avLst/>
          </a:prstGeom>
        </p:spPr>
      </p:pic>
      <p:sp>
        <p:nvSpPr>
          <p:cNvPr id="4103" name="Rectangle 7"/>
          <p:cNvSpPr>
            <a:spLocks noChangeArrowheads="1"/>
          </p:cNvSpPr>
          <p:nvPr/>
        </p:nvSpPr>
        <p:spPr bwMode="auto">
          <a:xfrm>
            <a:off x="455280" y="6526220"/>
            <a:ext cx="2753783" cy="110800"/>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chemeClr val="bg1"/>
                </a:solidFill>
              </a:rPr>
              <a:t>Copyright © 2020 Boeing. All rights reserved.</a:t>
            </a:r>
          </a:p>
        </p:txBody>
      </p:sp>
      <p:sp>
        <p:nvSpPr>
          <p:cNvPr id="4105" name="Rectangle 9"/>
          <p:cNvSpPr>
            <a:spLocks noGrp="1" noChangeArrowheads="1"/>
          </p:cNvSpPr>
          <p:nvPr>
            <p:ph type="ctrTitle"/>
          </p:nvPr>
        </p:nvSpPr>
        <p:spPr>
          <a:xfrm>
            <a:off x="457319" y="2927614"/>
            <a:ext cx="11286635" cy="609398"/>
          </a:xfrm>
        </p:spPr>
        <p:txBody>
          <a:bodyPr anchor="t"/>
          <a:lstStyle>
            <a:lvl1pPr>
              <a:defRPr sz="4400" b="0">
                <a:solidFill>
                  <a:schemeClr val="tx2"/>
                </a:solidFill>
              </a:defRPr>
            </a:lvl1pPr>
          </a:lstStyle>
          <a:p>
            <a:r>
              <a:rPr lang="en-US" dirty="0"/>
              <a:t>Click to edit Master title style</a:t>
            </a:r>
          </a:p>
        </p:txBody>
      </p:sp>
      <p:sp>
        <p:nvSpPr>
          <p:cNvPr id="4106" name="Rectangle 10"/>
          <p:cNvSpPr>
            <a:spLocks noGrp="1" noChangeArrowheads="1"/>
          </p:cNvSpPr>
          <p:nvPr>
            <p:ph type="subTitle" idx="1"/>
          </p:nvPr>
        </p:nvSpPr>
        <p:spPr>
          <a:xfrm>
            <a:off x="457319" y="4688335"/>
            <a:ext cx="11286635" cy="332399"/>
          </a:xfrm>
        </p:spPr>
        <p:txBody>
          <a:bodyPr/>
          <a:lstStyle>
            <a:lvl1pPr marL="0" indent="0">
              <a:spcBef>
                <a:spcPct val="0"/>
              </a:spcBef>
              <a:buFont typeface="Wingdings" pitchFamily="2" charset="2"/>
              <a:buNone/>
              <a:defRPr sz="2400" b="0">
                <a:solidFill>
                  <a:srgbClr val="394A59"/>
                </a:solidFill>
              </a:defRPr>
            </a:lvl1pPr>
          </a:lstStyle>
          <a:p>
            <a:r>
              <a:rPr lang="en-US"/>
              <a:t>Click to edit Master subtitle style</a:t>
            </a:r>
            <a:endParaRPr lang="en-US" dirty="0"/>
          </a:p>
        </p:txBody>
      </p:sp>
      <p:sp>
        <p:nvSpPr>
          <p:cNvPr id="60" name="Rectangle 14"/>
          <p:cNvSpPr/>
          <p:nvPr userDrawn="1"/>
        </p:nvSpPr>
        <p:spPr>
          <a:xfrm>
            <a:off x="454267" y="5806715"/>
            <a:ext cx="11320989" cy="538609"/>
          </a:xfrm>
          <a:prstGeom prst="rect">
            <a:avLst/>
          </a:prstGeom>
        </p:spPr>
        <p:txBody>
          <a:bodyPr wrap="square" lIns="0" tIns="0" rIns="0" bIns="0">
            <a:spAutoFit/>
          </a:bodyPr>
          <a:lstStyle/>
          <a:p>
            <a:pPr eaLnBrk="0" fontAlgn="base" hangingPunct="0">
              <a:spcBef>
                <a:spcPct val="0"/>
              </a:spcBef>
              <a:spcAft>
                <a:spcPct val="0"/>
              </a:spcAft>
            </a:pPr>
            <a:r>
              <a:rPr lang="en-US" sz="700" b="1" dirty="0">
                <a:solidFill>
                  <a:srgbClr val="FFFFFF">
                    <a:lumMod val="50000"/>
                  </a:srgbClr>
                </a:solidFill>
                <a:ea typeface="ＭＳ Ｐゴシック" pitchFamily="1" charset="-128"/>
              </a:rPr>
              <a:t>Proprietary:</a:t>
            </a:r>
          </a:p>
          <a:p>
            <a:pPr eaLnBrk="0" fontAlgn="base" hangingPunct="0">
              <a:spcBef>
                <a:spcPct val="0"/>
              </a:spcBef>
              <a:spcAft>
                <a:spcPct val="0"/>
              </a:spcAft>
            </a:pPr>
            <a:r>
              <a:rPr lang="en-US" sz="700" dirty="0">
                <a:solidFill>
                  <a:srgbClr val="FFFFFF">
                    <a:lumMod val="50000"/>
                  </a:srgbClr>
                </a:solidFill>
                <a:ea typeface="ＭＳ Ｐゴシック" pitchFamily="1" charset="-128"/>
              </a:rPr>
              <a:t>The information contained herein is proprietary to The Boeing Company and shall not be reproduced or disclosed in whole or in part or used for any reason except when such user possesses direct, written authorization from The Boeing Company.</a:t>
            </a:r>
          </a:p>
          <a:p>
            <a:pPr eaLnBrk="0" fontAlgn="base" hangingPunct="0">
              <a:spcBef>
                <a:spcPct val="0"/>
              </a:spcBef>
              <a:spcAft>
                <a:spcPct val="0"/>
              </a:spcAft>
            </a:pPr>
            <a:endParaRPr lang="en-US" sz="700" dirty="0">
              <a:solidFill>
                <a:srgbClr val="FFFFFF">
                  <a:lumMod val="50000"/>
                </a:srgbClr>
              </a:solidFill>
              <a:ea typeface="ＭＳ Ｐゴシック" pitchFamily="1" charset="-128"/>
            </a:endParaRPr>
          </a:p>
          <a:p>
            <a:pPr eaLnBrk="0" fontAlgn="base" hangingPunct="0">
              <a:spcBef>
                <a:spcPct val="0"/>
              </a:spcBef>
              <a:spcAft>
                <a:spcPct val="0"/>
              </a:spcAft>
            </a:pPr>
            <a:r>
              <a:rPr lang="en-US" sz="700" dirty="0">
                <a:solidFill>
                  <a:srgbClr val="FFFFFF">
                    <a:lumMod val="50000"/>
                  </a:srgbClr>
                </a:solidFill>
                <a:cs typeface="Arial" pitchFamily="34" charset="0"/>
              </a:rPr>
              <a:t>The statements contained herein are based on good faith assumptions and provided for general information purposes only. These statements do not constitute an offer, promise, warranty or guarantee of performance. Actual results may vary depending on certain events or conditions. This document should not be used or relied upon for any purpose other than that intended by Boeing.</a:t>
            </a:r>
          </a:p>
        </p:txBody>
      </p:sp>
      <p:sp>
        <p:nvSpPr>
          <p:cNvPr id="62" name="Organization Placeholder"/>
          <p:cNvSpPr txBox="1">
            <a:spLocks noChangeArrowheads="1"/>
          </p:cNvSpPr>
          <p:nvPr userDrawn="1"/>
        </p:nvSpPr>
        <p:spPr bwMode="auto">
          <a:xfrm>
            <a:off x="7452608" y="434113"/>
            <a:ext cx="4385848" cy="262151"/>
          </a:xfrm>
          <a:prstGeom prst="rect">
            <a:avLst/>
          </a:prstGeom>
          <a:noFill/>
          <a:ln w="12700">
            <a:noFill/>
            <a:miter lim="800000"/>
            <a:headEnd type="none" w="sm" len="sm"/>
            <a:tailEnd type="none" w="sm" len="sm"/>
          </a:ln>
          <a:effectLst/>
        </p:spPr>
        <p:txBody>
          <a:bodyPr wrap="square" lIns="76731" tIns="38368" rIns="76731" bIns="38368">
            <a:spAutoFit/>
          </a:bodyPr>
          <a:lstStyle/>
          <a:p>
            <a:pPr algn="r" defTabSz="820704" eaLnBrk="0" fontAlgn="base" hangingPunct="0">
              <a:spcBef>
                <a:spcPct val="50000"/>
              </a:spcBef>
              <a:spcAft>
                <a:spcPct val="0"/>
              </a:spcAft>
              <a:defRPr/>
            </a:pPr>
            <a:r>
              <a:rPr lang="en-US" sz="1200" b="1" dirty="0">
                <a:solidFill>
                  <a:schemeClr val="bg1"/>
                </a:solidFill>
              </a:rPr>
              <a:t>Boeing India </a:t>
            </a:r>
            <a:r>
              <a:rPr lang="en-US" sz="1200" dirty="0">
                <a:solidFill>
                  <a:schemeClr val="bg1"/>
                </a:solidFill>
              </a:rPr>
              <a:t>Engineering</a:t>
            </a:r>
          </a:p>
        </p:txBody>
      </p:sp>
      <p:sp>
        <p:nvSpPr>
          <p:cNvPr id="3" name="TextBox 2">
            <a:extLst>
              <a:ext uri="{FF2B5EF4-FFF2-40B4-BE49-F238E27FC236}">
                <a16:creationId xmlns:a16="http://schemas.microsoft.com/office/drawing/2014/main" id="{90C13225-EB3C-BA47-9129-7D5BD745BD82}"/>
              </a:ext>
            </a:extLst>
          </p:cNvPr>
          <p:cNvSpPr txBox="1"/>
          <p:nvPr userDrawn="1"/>
        </p:nvSpPr>
        <p:spPr>
          <a:xfrm>
            <a:off x="3962400" y="6465261"/>
            <a:ext cx="4360808" cy="246221"/>
          </a:xfrm>
          <a:prstGeom prst="rect">
            <a:avLst/>
          </a:prstGeom>
          <a:noFill/>
        </p:spPr>
        <p:txBody>
          <a:bodyPr wrap="square" rtlCol="0">
            <a:spAutoFit/>
          </a:bodyPr>
          <a:lstStyle/>
          <a:p>
            <a:pPr algn="ctr" fontAlgn="base">
              <a:spcBef>
                <a:spcPct val="0"/>
              </a:spcBef>
              <a:spcAft>
                <a:spcPct val="0"/>
              </a:spcAft>
            </a:pPr>
            <a:r>
              <a:rPr lang="en-US" sz="1000" b="1" dirty="0">
                <a:solidFill>
                  <a:schemeClr val="bg1"/>
                </a:solidFill>
              </a:rPr>
              <a:t>BOEING PROPRIETARY</a:t>
            </a:r>
          </a:p>
        </p:txBody>
      </p:sp>
      <p:pic>
        <p:nvPicPr>
          <p:cNvPr id="10" name="Picture 47" descr="Boeing_white_standard"/>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52362" y="328816"/>
            <a:ext cx="1622737" cy="391354"/>
          </a:xfrm>
          <a:prstGeom prst="rect">
            <a:avLst/>
          </a:prstGeom>
          <a:noFill/>
        </p:spPr>
      </p:pic>
    </p:spTree>
    <p:extLst>
      <p:ext uri="{BB962C8B-B14F-4D97-AF65-F5344CB8AC3E}">
        <p14:creationId xmlns:p14="http://schemas.microsoft.com/office/powerpoint/2010/main" val="122200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319" y="338328"/>
            <a:ext cx="11286635" cy="534388"/>
          </a:xfrm>
        </p:spPr>
        <p:txBody>
          <a:bodyPr/>
          <a:lstStyle/>
          <a:p>
            <a:r>
              <a:rPr lang="en-US"/>
              <a:t>Click to edit Master title style</a:t>
            </a:r>
            <a:endParaRPr lang="en-US" dirty="0"/>
          </a:p>
        </p:txBody>
      </p:sp>
      <p:sp>
        <p:nvSpPr>
          <p:cNvPr id="3" name="Content Placeholder 2"/>
          <p:cNvSpPr>
            <a:spLocks noGrp="1"/>
          </p:cNvSpPr>
          <p:nvPr>
            <p:ph idx="1"/>
          </p:nvPr>
        </p:nvSpPr>
        <p:spPr>
          <a:xfrm>
            <a:off x="457320" y="1448781"/>
            <a:ext cx="11286635" cy="186592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lvl1pPr>
              <a:defRPr/>
            </a:lvl1pPr>
          </a:lstStyle>
          <a:p>
            <a:r>
              <a:rPr lang="en-US" dirty="0">
                <a:solidFill>
                  <a:srgbClr val="FFFFFF">
                    <a:lumMod val="50000"/>
                  </a:srgbClr>
                </a:solidFill>
              </a:rPr>
              <a:t>BOEING PROPRIETARY</a:t>
            </a:r>
          </a:p>
        </p:txBody>
      </p:sp>
      <p:sp>
        <p:nvSpPr>
          <p:cNvPr id="6"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lvl1p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9" name="Text Placeholder 7"/>
          <p:cNvSpPr>
            <a:spLocks noGrp="1"/>
          </p:cNvSpPr>
          <p:nvPr>
            <p:ph type="body" sz="quarter" idx="13"/>
          </p:nvPr>
        </p:nvSpPr>
        <p:spPr>
          <a:xfrm>
            <a:off x="455732" y="911449"/>
            <a:ext cx="11289747" cy="249299"/>
          </a:xfrm>
        </p:spPr>
        <p:txBody>
          <a:bodyPr/>
          <a:lstStyle>
            <a:lvl1pPr marL="0" indent="0">
              <a:buFontTx/>
              <a:buNone/>
              <a:defRPr sz="1800"/>
            </a:lvl1pPr>
          </a:lstStyle>
          <a:p>
            <a:pPr lvl="0"/>
            <a:r>
              <a:rPr lang="en-US"/>
              <a:t>Click to edit Master text styles</a:t>
            </a:r>
          </a:p>
        </p:txBody>
      </p:sp>
    </p:spTree>
    <p:extLst>
      <p:ext uri="{BB962C8B-B14F-4D97-AF65-F5344CB8AC3E}">
        <p14:creationId xmlns:p14="http://schemas.microsoft.com/office/powerpoint/2010/main" val="2283071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319" y="338328"/>
            <a:ext cx="11286635" cy="498384"/>
          </a:xfrm>
        </p:spPr>
        <p:txBody>
          <a:bodyPr/>
          <a:lstStyle/>
          <a:p>
            <a:r>
              <a:rPr lang="en-US"/>
              <a:t>Click to edit Master title style</a:t>
            </a:r>
            <a:endParaRPr lang="en-US" dirty="0"/>
          </a:p>
        </p:txBody>
      </p:sp>
      <p:sp>
        <p:nvSpPr>
          <p:cNvPr id="3" name="Content Placeholder 2"/>
          <p:cNvSpPr>
            <a:spLocks noGrp="1"/>
          </p:cNvSpPr>
          <p:nvPr>
            <p:ph idx="1"/>
          </p:nvPr>
        </p:nvSpPr>
        <p:spPr>
          <a:xfrm>
            <a:off x="457320" y="1232757"/>
            <a:ext cx="11286635" cy="2081946"/>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lvl1pPr>
              <a:defRPr/>
            </a:lvl1pPr>
          </a:lstStyle>
          <a:p>
            <a:r>
              <a:rPr lang="en-US" dirty="0">
                <a:solidFill>
                  <a:srgbClr val="FFFFFF">
                    <a:lumMod val="50000"/>
                  </a:srgbClr>
                </a:solidFill>
              </a:rPr>
              <a:t>BOEING PROPRIETARY</a:t>
            </a:r>
          </a:p>
        </p:txBody>
      </p:sp>
      <p:sp>
        <p:nvSpPr>
          <p:cNvPr id="6"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lvl1p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85891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a:xfrm>
            <a:off x="457319" y="338328"/>
            <a:ext cx="11286635" cy="914400"/>
          </a:xfrm>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lvl1pPr>
          </a:lstStyle>
          <a:p>
            <a:r>
              <a:rPr lang="en-US" dirty="0">
                <a:solidFill>
                  <a:srgbClr val="FFFFFF">
                    <a:lumMod val="50000"/>
                  </a:srgbClr>
                </a:solidFill>
              </a:rPr>
              <a:t>BOEING PROPRIETARY</a:t>
            </a:r>
          </a:p>
        </p:txBody>
      </p:sp>
      <p:sp>
        <p:nvSpPr>
          <p:cNvPr id="6"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lvl1p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9" name="Text Placeholder 7"/>
          <p:cNvSpPr>
            <a:spLocks noGrp="1"/>
          </p:cNvSpPr>
          <p:nvPr>
            <p:ph type="body" sz="quarter" idx="13"/>
          </p:nvPr>
        </p:nvSpPr>
        <p:spPr>
          <a:xfrm>
            <a:off x="455732" y="1260794"/>
            <a:ext cx="11289747" cy="249299"/>
          </a:xfrm>
        </p:spPr>
        <p:txBody>
          <a:bodyPr/>
          <a:lstStyle>
            <a:lvl1pPr marL="0" indent="0">
              <a:buFontTx/>
              <a:buNone/>
              <a:defRPr sz="1800"/>
            </a:lvl1pPr>
          </a:lstStyle>
          <a:p>
            <a:pPr lvl="0"/>
            <a:r>
              <a:rPr lang="en-US"/>
              <a:t>Click to edit Master text styles</a:t>
            </a:r>
          </a:p>
        </p:txBody>
      </p:sp>
    </p:spTree>
    <p:extLst>
      <p:ext uri="{BB962C8B-B14F-4D97-AF65-F5344CB8AC3E}">
        <p14:creationId xmlns:p14="http://schemas.microsoft.com/office/powerpoint/2010/main" val="246223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319" y="338328"/>
            <a:ext cx="11286635" cy="914400"/>
          </a:xfrm>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lvl1pPr>
          </a:lstStyle>
          <a:p>
            <a:r>
              <a:rPr lang="en-US" dirty="0">
                <a:solidFill>
                  <a:srgbClr val="FFFFFF">
                    <a:lumMod val="50000"/>
                  </a:srgbClr>
                </a:solidFill>
              </a:rPr>
              <a:t>BOEING PROPRIETARY</a:t>
            </a:r>
          </a:p>
        </p:txBody>
      </p:sp>
      <p:sp>
        <p:nvSpPr>
          <p:cNvPr id="6"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lvl1pPr>
          </a:lstStyle>
          <a:p>
            <a:r>
              <a:rPr lang="en-US" dirty="0">
                <a:solidFill>
                  <a:srgbClr val="FFFFFF">
                    <a:lumMod val="50000"/>
                  </a:srgbClr>
                </a:solidFill>
              </a:rPr>
              <a:t>Author, </a:t>
            </a:r>
            <a:fld id="{7C8DCA4D-5940-4BF7-ADB7-F21FF107D4C4}" type="datetime1">
              <a:rPr lang="en-US" smtClean="0">
                <a:solidFill>
                  <a:srgbClr val="FFFFFF">
                    <a:lumMod val="50000"/>
                  </a:srgbClr>
                </a:solidFill>
              </a:rPr>
              <a:pPr/>
              <a:t>7/28/2022</a:t>
            </a:fld>
            <a:r>
              <a:rPr lang="en-US" dirty="0">
                <a:solidFill>
                  <a:srgbClr val="FFFFFF">
                    <a:lumMod val="50000"/>
                  </a:srgbClr>
                </a:solidFill>
              </a:rPr>
              <a:t>, Filename.ppt</a:t>
            </a:r>
            <a:r>
              <a:rPr lang="en-US" sz="800" dirty="0">
                <a:solidFill>
                  <a:srgbClr val="FFFFFF">
                    <a:lumMod val="50000"/>
                  </a:srgbClr>
                </a:solidFill>
              </a:rPr>
              <a:t> </a:t>
            </a:r>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43347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319" y="1692276"/>
            <a:ext cx="5431366" cy="1634294"/>
          </a:xfrm>
        </p:spPr>
        <p:txBody>
          <a:bodyPr/>
          <a:lstStyle>
            <a:lvl1pPr>
              <a:defRPr sz="2200">
                <a:solidFill>
                  <a:schemeClr val="tx1">
                    <a:lumMod val="75000"/>
                    <a:lumOff val="25000"/>
                  </a:schemeClr>
                </a:solidFill>
              </a:defRPr>
            </a:lvl1pPr>
            <a:lvl2pPr>
              <a:defRPr sz="2000">
                <a:solidFill>
                  <a:schemeClr val="tx1">
                    <a:lumMod val="75000"/>
                    <a:lumOff val="25000"/>
                  </a:schemeClr>
                </a:solidFill>
              </a:defRPr>
            </a:lvl2pPr>
            <a:lvl3pPr>
              <a:defRPr sz="1800">
                <a:solidFill>
                  <a:schemeClr val="tx1">
                    <a:lumMod val="75000"/>
                    <a:lumOff val="25000"/>
                  </a:schemeClr>
                </a:solidFill>
              </a:defRPr>
            </a:lvl3pPr>
            <a:lvl4pPr>
              <a:defRPr sz="1800">
                <a:solidFill>
                  <a:schemeClr val="tx1">
                    <a:lumMod val="75000"/>
                    <a:lumOff val="25000"/>
                  </a:schemeClr>
                </a:solidFill>
              </a:defRPr>
            </a:lvl4pPr>
            <a:lvl5pPr>
              <a:defRPr sz="1600">
                <a:solidFill>
                  <a:schemeClr val="tx1">
                    <a:lumMod val="75000"/>
                    <a:lumOff val="2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2310" y="1692276"/>
            <a:ext cx="5433483" cy="1634294"/>
          </a:xfrm>
        </p:spPr>
        <p:txBody>
          <a:bodyPr/>
          <a:lstStyle>
            <a:lvl1pPr>
              <a:defRPr sz="2200">
                <a:solidFill>
                  <a:schemeClr val="tx1">
                    <a:lumMod val="75000"/>
                    <a:lumOff val="25000"/>
                  </a:schemeClr>
                </a:solidFill>
              </a:defRPr>
            </a:lvl1pPr>
            <a:lvl2pPr>
              <a:defRPr sz="2000">
                <a:solidFill>
                  <a:schemeClr val="tx1">
                    <a:lumMod val="75000"/>
                    <a:lumOff val="25000"/>
                  </a:schemeClr>
                </a:solidFill>
              </a:defRPr>
            </a:lvl2pPr>
            <a:lvl3pPr>
              <a:defRPr sz="1800">
                <a:solidFill>
                  <a:schemeClr val="tx1">
                    <a:lumMod val="75000"/>
                    <a:lumOff val="25000"/>
                  </a:schemeClr>
                </a:solidFill>
              </a:defRPr>
            </a:lvl3pPr>
            <a:lvl4pPr>
              <a:defRPr sz="1800">
                <a:solidFill>
                  <a:schemeClr val="tx1">
                    <a:lumMod val="75000"/>
                    <a:lumOff val="25000"/>
                  </a:schemeClr>
                </a:solidFill>
              </a:defRPr>
            </a:lvl4pPr>
            <a:lvl5pPr>
              <a:defRPr sz="1600">
                <a:solidFill>
                  <a:schemeClr val="tx1">
                    <a:lumMod val="75000"/>
                    <a:lumOff val="2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lvl1pPr>
              <a:defRPr/>
            </a:lvl1pPr>
          </a:lstStyle>
          <a:p>
            <a:r>
              <a:rPr lang="en-US" dirty="0">
                <a:solidFill>
                  <a:srgbClr val="FFFFFF">
                    <a:lumMod val="50000"/>
                  </a:srgbClr>
                </a:solidFill>
              </a:rPr>
              <a:t>BOEING PROPRIETARY</a:t>
            </a:r>
          </a:p>
        </p:txBody>
      </p:sp>
      <p:sp>
        <p:nvSpPr>
          <p:cNvPr id="8" name="Slide Number Placeholder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lvl1pPr>
          </a:lstStyle>
          <a:p>
            <a:r>
              <a:rPr lang="en-US" dirty="0">
                <a:solidFill>
                  <a:srgbClr val="FFFFFF">
                    <a:lumMod val="50000"/>
                  </a:srgbClr>
                </a:solidFill>
              </a:rPr>
              <a:t>Author, </a:t>
            </a:r>
            <a:fld id="{7C8DCA4D-5940-4BF7-ADB7-F21FF107D4C4}" type="datetime1">
              <a:rPr lang="en-US" smtClean="0">
                <a:solidFill>
                  <a:srgbClr val="FFFFFF">
                    <a:lumMod val="50000"/>
                  </a:srgbClr>
                </a:solidFill>
              </a:rPr>
              <a:pPr/>
              <a:t>7/28/2022</a:t>
            </a:fld>
            <a:r>
              <a:rPr lang="en-US" dirty="0">
                <a:solidFill>
                  <a:srgbClr val="FFFFFF">
                    <a:lumMod val="50000"/>
                  </a:srgbClr>
                </a:solidFill>
              </a:rPr>
              <a:t>, Filename.ppt</a:t>
            </a:r>
            <a:r>
              <a:rPr lang="en-US" sz="800" dirty="0">
                <a:solidFill>
                  <a:srgbClr val="FFFFFF">
                    <a:lumMod val="50000"/>
                  </a:srgbClr>
                </a:solidFill>
              </a:rPr>
              <a:t> </a:t>
            </a:r>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7" name="Title 1"/>
          <p:cNvSpPr>
            <a:spLocks noGrp="1"/>
          </p:cNvSpPr>
          <p:nvPr>
            <p:ph type="title"/>
          </p:nvPr>
        </p:nvSpPr>
        <p:spPr>
          <a:xfrm>
            <a:off x="457319" y="338328"/>
            <a:ext cx="11286635"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836656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p:txBody>
          <a:bodyPr/>
          <a:lstStyle>
            <a:lvl1pPr>
              <a:defRPr/>
            </a:lvl1pPr>
          </a:lstStyle>
          <a:p>
            <a:r>
              <a:rPr lang="en-US" dirty="0">
                <a:solidFill>
                  <a:srgbClr val="FFFFFF">
                    <a:lumMod val="50000"/>
                  </a:srgbClr>
                </a:solidFill>
              </a:rPr>
              <a:t>BOEING PROPRIETARY</a:t>
            </a:r>
          </a:p>
        </p:txBody>
      </p:sp>
      <p:sp>
        <p:nvSpPr>
          <p:cNvPr id="10" name="Text Placeholder 2"/>
          <p:cNvSpPr>
            <a:spLocks noGrp="1"/>
          </p:cNvSpPr>
          <p:nvPr>
            <p:ph type="body" idx="1"/>
          </p:nvPr>
        </p:nvSpPr>
        <p:spPr>
          <a:xfrm>
            <a:off x="457319" y="1997721"/>
            <a:ext cx="5386917" cy="304699"/>
          </a:xfrm>
        </p:spPr>
        <p:txBody>
          <a:bodyPr anchor="b"/>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3"/>
          <p:cNvSpPr>
            <a:spLocks noGrp="1"/>
          </p:cNvSpPr>
          <p:nvPr>
            <p:ph sz="half" idx="2"/>
          </p:nvPr>
        </p:nvSpPr>
        <p:spPr>
          <a:xfrm>
            <a:off x="457319" y="2302419"/>
            <a:ext cx="5386917" cy="16250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3"/>
          </p:nvPr>
        </p:nvSpPr>
        <p:spPr>
          <a:xfrm>
            <a:off x="6360537" y="1997721"/>
            <a:ext cx="5389033" cy="304699"/>
          </a:xfrm>
        </p:spPr>
        <p:txBody>
          <a:bodyPr anchor="b"/>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4"/>
          </p:nvPr>
        </p:nvSpPr>
        <p:spPr>
          <a:xfrm>
            <a:off x="6360537" y="2302419"/>
            <a:ext cx="5389033" cy="16250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Rectangle 7"/>
          <p:cNvSpPr>
            <a:spLocks noGrp="1" noChangeArrowheads="1"/>
          </p:cNvSpPr>
          <p:nvPr>
            <p:ph type="sldNum" sz="quarter" idx="12"/>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lvl1pPr>
          </a:lstStyle>
          <a:p>
            <a:r>
              <a:rPr lang="en-US" dirty="0">
                <a:solidFill>
                  <a:srgbClr val="FFFFFF">
                    <a:lumMod val="50000"/>
                  </a:srgbClr>
                </a:solidFill>
              </a:rPr>
              <a:t>Author, </a:t>
            </a:r>
            <a:fld id="{7C8DCA4D-5940-4BF7-ADB7-F21FF107D4C4}" type="datetime1">
              <a:rPr lang="en-US" smtClean="0">
                <a:solidFill>
                  <a:srgbClr val="FFFFFF">
                    <a:lumMod val="50000"/>
                  </a:srgbClr>
                </a:solidFill>
              </a:rPr>
              <a:pPr/>
              <a:t>7/28/2022</a:t>
            </a:fld>
            <a:r>
              <a:rPr lang="en-US" dirty="0">
                <a:solidFill>
                  <a:srgbClr val="FFFFFF">
                    <a:lumMod val="50000"/>
                  </a:srgbClr>
                </a:solidFill>
              </a:rPr>
              <a:t>, Filename.ppt</a:t>
            </a:r>
            <a:r>
              <a:rPr lang="en-US" sz="800" dirty="0">
                <a:solidFill>
                  <a:srgbClr val="FFFFFF">
                    <a:lumMod val="50000"/>
                  </a:srgbClr>
                </a:solidFill>
              </a:rPr>
              <a:t> </a:t>
            </a:r>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4" name="Title 1"/>
          <p:cNvSpPr>
            <a:spLocks noGrp="1"/>
          </p:cNvSpPr>
          <p:nvPr>
            <p:ph type="title"/>
          </p:nvPr>
        </p:nvSpPr>
        <p:spPr>
          <a:xfrm>
            <a:off x="457319" y="338328"/>
            <a:ext cx="11286635"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310997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fontAlgn="base">
              <a:spcBef>
                <a:spcPct val="0"/>
              </a:spcBef>
              <a:spcAft>
                <a:spcPct val="0"/>
              </a:spcAft>
            </a:pPr>
            <a:r>
              <a:rPr lang="en-US">
                <a:solidFill>
                  <a:srgbClr val="FFFFFF">
                    <a:lumMod val="50000"/>
                  </a:srgbClr>
                </a:solidFill>
              </a:rPr>
              <a:t>BOEING PROPRIETARY</a:t>
            </a:r>
            <a:endParaRPr lang="en-US" dirty="0">
              <a:solidFill>
                <a:srgbClr val="FFFFFF">
                  <a:lumMod val="50000"/>
                </a:srgbClr>
              </a:solidFill>
            </a:endParaRPr>
          </a:p>
        </p:txBody>
      </p:sp>
      <p:sp>
        <p:nvSpPr>
          <p:cNvPr id="3" name="Slide Number Placeholder 2"/>
          <p:cNvSpPr>
            <a:spLocks noGrp="1"/>
          </p:cNvSpPr>
          <p:nvPr>
            <p:ph type="sldNum" sz="quarter" idx="11"/>
          </p:nvPr>
        </p:nvSpPr>
        <p:spPr/>
        <p:txBody>
          <a:body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spTree>
    <p:extLst>
      <p:ext uri="{BB962C8B-B14F-4D97-AF65-F5344CB8AC3E}">
        <p14:creationId xmlns:p14="http://schemas.microsoft.com/office/powerpoint/2010/main" val="2294126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97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bwMode="auto">
          <a:xfrm>
            <a:off x="457320" y="338205"/>
            <a:ext cx="11282626" cy="534512"/>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p>
            <a:pPr lvl="0"/>
            <a:r>
              <a:rPr lang="en-US" dirty="0"/>
              <a:t>Click to edit Master title style</a:t>
            </a:r>
          </a:p>
        </p:txBody>
      </p:sp>
      <p:sp>
        <p:nvSpPr>
          <p:cNvPr id="11268" name="Rectangle 4"/>
          <p:cNvSpPr>
            <a:spLocks noGrp="1" noChangeArrowheads="1"/>
          </p:cNvSpPr>
          <p:nvPr>
            <p:ph type="body" idx="1"/>
          </p:nvPr>
        </p:nvSpPr>
        <p:spPr bwMode="auto">
          <a:xfrm>
            <a:off x="457320" y="1692277"/>
            <a:ext cx="11344045" cy="1638397"/>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269" name="Rectangle 5"/>
          <p:cNvSpPr>
            <a:spLocks noChangeArrowheads="1"/>
          </p:cNvSpPr>
          <p:nvPr/>
        </p:nvSpPr>
        <p:spPr bwMode="auto">
          <a:xfrm>
            <a:off x="414629"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2020 Boeing. All rights reserved.</a:t>
            </a:r>
          </a:p>
        </p:txBody>
      </p:sp>
      <p:sp>
        <p:nvSpPr>
          <p:cNvPr id="11271" name="Rectangle 7"/>
          <p:cNvSpPr>
            <a:spLocks noGrp="1" noChangeArrowheads="1"/>
          </p:cNvSpPr>
          <p:nvPr>
            <p:ph type="ftr" sz="quarter" idx="3"/>
          </p:nvPr>
        </p:nvSpPr>
        <p:spPr bwMode="auto">
          <a:xfrm>
            <a:off x="3962401" y="6597352"/>
            <a:ext cx="4267200" cy="17174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ctr" eaLnBrk="0" hangingPunct="0">
              <a:defRPr sz="1000" b="1">
                <a:solidFill>
                  <a:schemeClr val="bg1">
                    <a:lumMod val="50000"/>
                  </a:schemeClr>
                </a:solidFill>
              </a:defRPr>
            </a:lvl1pPr>
          </a:lstStyle>
          <a:p>
            <a:pPr fontAlgn="base">
              <a:spcBef>
                <a:spcPct val="0"/>
              </a:spcBef>
              <a:spcAft>
                <a:spcPct val="0"/>
              </a:spcAft>
            </a:pPr>
            <a:r>
              <a:rPr lang="en-US" dirty="0">
                <a:solidFill>
                  <a:srgbClr val="FFFFFF">
                    <a:lumMod val="50000"/>
                  </a:srgbClr>
                </a:solidFill>
              </a:rPr>
              <a:t>BOEING PROPRIETARY</a:t>
            </a:r>
          </a:p>
        </p:txBody>
      </p:sp>
      <p:sp>
        <p:nvSpPr>
          <p:cNvPr id="7"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solidFill>
                  <a:schemeClr val="bg1">
                    <a:lumMod val="50000"/>
                  </a:schemeClr>
                </a:solidFill>
              </a:defRPr>
            </a:lvl1p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sp>
        <p:nvSpPr>
          <p:cNvPr id="49" name="Rectangle 2"/>
          <p:cNvSpPr>
            <a:spLocks noChangeArrowheads="1"/>
          </p:cNvSpPr>
          <p:nvPr/>
        </p:nvSpPr>
        <p:spPr bwMode="auto">
          <a:xfrm>
            <a:off x="0" y="1"/>
            <a:ext cx="12192127" cy="284163"/>
          </a:xfrm>
          <a:prstGeom prst="rect">
            <a:avLst/>
          </a:prstGeom>
          <a:gradFill rotWithShape="1">
            <a:gsLst>
              <a:gs pos="0">
                <a:srgbClr val="0039A6"/>
              </a:gs>
              <a:gs pos="100000">
                <a:srgbClr val="3A75C4"/>
              </a:gs>
            </a:gsLst>
            <a:lin ang="0" scaled="1"/>
          </a:gradFill>
          <a:ln w="9525">
            <a:noFill/>
            <a:miter lim="800000"/>
            <a:headEnd type="none" w="sm" len="sm"/>
            <a:tailEnd type="none" w="sm" len="sm"/>
          </a:ln>
          <a:effectLst/>
        </p:spPr>
        <p:txBody>
          <a:bodyPr wrap="none" lIns="432000" tIns="0" rIns="0" bIns="0" anchor="ctr"/>
          <a:lstStyle/>
          <a:p>
            <a:pPr defTabSz="820738" eaLnBrk="0" fontAlgn="base" hangingPunct="0">
              <a:spcBef>
                <a:spcPct val="0"/>
              </a:spcBef>
              <a:spcAft>
                <a:spcPct val="0"/>
              </a:spcAft>
            </a:pPr>
            <a:r>
              <a:rPr lang="en-US" sz="1200" b="1" dirty="0">
                <a:solidFill>
                  <a:srgbClr val="FFFFFF"/>
                </a:solidFill>
              </a:rPr>
              <a:t>Boeing India Engineering</a:t>
            </a:r>
          </a:p>
        </p:txBody>
      </p:sp>
    </p:spTree>
    <p:extLst>
      <p:ext uri="{BB962C8B-B14F-4D97-AF65-F5344CB8AC3E}">
        <p14:creationId xmlns:p14="http://schemas.microsoft.com/office/powerpoint/2010/main" val="1047591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 id="2147483671"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1020763" rtl="0" eaLnBrk="1" fontAlgn="base" hangingPunct="1">
        <a:lnSpc>
          <a:spcPct val="90000"/>
        </a:lnSpc>
        <a:spcBef>
          <a:spcPct val="0"/>
        </a:spcBef>
        <a:spcAft>
          <a:spcPct val="0"/>
        </a:spcAft>
        <a:defRPr sz="3200" b="0" i="0">
          <a:solidFill>
            <a:schemeClr val="tx2"/>
          </a:solidFill>
          <a:latin typeface="+mj-lt"/>
          <a:ea typeface="+mj-ea"/>
          <a:cs typeface="+mj-cs"/>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p:titleStyle>
    <p:bodyStyle>
      <a:lvl1pPr marL="169863" indent="-169863" algn="l" defTabSz="820738" rtl="0" eaLnBrk="1" fontAlgn="base" hangingPunct="1">
        <a:lnSpc>
          <a:spcPct val="90000"/>
        </a:lnSpc>
        <a:spcBef>
          <a:spcPct val="30000"/>
        </a:spcBef>
        <a:spcAft>
          <a:spcPct val="0"/>
        </a:spcAft>
        <a:buClr>
          <a:schemeClr val="tx2"/>
        </a:buClr>
        <a:buFont typeface="Arial"/>
        <a:buChar char="•"/>
        <a:defRPr sz="2200" b="0">
          <a:solidFill>
            <a:schemeClr val="tx1">
              <a:lumMod val="75000"/>
              <a:lumOff val="25000"/>
            </a:schemeClr>
          </a:solidFill>
          <a:latin typeface="+mn-lt"/>
          <a:ea typeface="+mn-ea"/>
          <a:cs typeface="+mn-cs"/>
        </a:defRPr>
      </a:lvl1pPr>
      <a:lvl2pPr marL="376238" indent="-204788" algn="l" defTabSz="820738" rtl="0" eaLnBrk="1" fontAlgn="base" hangingPunct="1">
        <a:lnSpc>
          <a:spcPct val="90000"/>
        </a:lnSpc>
        <a:spcBef>
          <a:spcPct val="30000"/>
        </a:spcBef>
        <a:spcAft>
          <a:spcPct val="0"/>
        </a:spcAft>
        <a:buClr>
          <a:schemeClr val="tx2"/>
        </a:buClr>
        <a:buFont typeface="Arial"/>
        <a:buChar char="•"/>
        <a:defRPr sz="2000" b="0">
          <a:solidFill>
            <a:schemeClr val="tx1">
              <a:lumMod val="75000"/>
              <a:lumOff val="25000"/>
            </a:schemeClr>
          </a:solidFill>
          <a:latin typeface="+mn-lt"/>
        </a:defRPr>
      </a:lvl2pPr>
      <a:lvl3pPr marL="627063" indent="-185738" algn="l" defTabSz="820738" rtl="0" eaLnBrk="1" fontAlgn="base" hangingPunct="1">
        <a:lnSpc>
          <a:spcPct val="90000"/>
        </a:lnSpc>
        <a:spcBef>
          <a:spcPct val="30000"/>
        </a:spcBef>
        <a:spcAft>
          <a:spcPct val="0"/>
        </a:spcAft>
        <a:buClr>
          <a:schemeClr val="tx2"/>
        </a:buClr>
        <a:buFont typeface="Arial" charset="0"/>
        <a:buChar char="–"/>
        <a:defRPr b="0">
          <a:solidFill>
            <a:schemeClr val="tx1">
              <a:lumMod val="75000"/>
              <a:lumOff val="25000"/>
            </a:schemeClr>
          </a:solidFill>
          <a:latin typeface="+mn-lt"/>
        </a:defRPr>
      </a:lvl3pPr>
      <a:lvl4pPr marL="792163" indent="-163513" algn="l" defTabSz="820738" rtl="0" eaLnBrk="1" fontAlgn="base" hangingPunct="1">
        <a:lnSpc>
          <a:spcPct val="90000"/>
        </a:lnSpc>
        <a:spcBef>
          <a:spcPct val="30000"/>
        </a:spcBef>
        <a:spcAft>
          <a:spcPct val="0"/>
        </a:spcAft>
        <a:buClr>
          <a:schemeClr val="tx2"/>
        </a:buClr>
        <a:buFont typeface="Arial" charset="0"/>
        <a:buChar char="–"/>
        <a:defRPr b="0">
          <a:solidFill>
            <a:schemeClr val="tx1">
              <a:lumMod val="75000"/>
              <a:lumOff val="25000"/>
            </a:schemeClr>
          </a:solidFill>
          <a:latin typeface="+mn-lt"/>
        </a:defRPr>
      </a:lvl4pPr>
      <a:lvl5pPr marL="957263" indent="-163513" algn="l" defTabSz="820738" rtl="0" eaLnBrk="1" fontAlgn="base" hangingPunct="1">
        <a:lnSpc>
          <a:spcPct val="90000"/>
        </a:lnSpc>
        <a:spcBef>
          <a:spcPct val="30000"/>
        </a:spcBef>
        <a:spcAft>
          <a:spcPct val="0"/>
        </a:spcAft>
        <a:buClr>
          <a:schemeClr val="tx2"/>
        </a:buClr>
        <a:buFont typeface="Arial" charset="0"/>
        <a:buChar char="–"/>
        <a:defRPr sz="1600" b="0">
          <a:solidFill>
            <a:schemeClr val="tx1">
              <a:lumMod val="75000"/>
              <a:lumOff val="25000"/>
            </a:schemeClr>
          </a:solidFill>
          <a:latin typeface="+mn-lt"/>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descr="Boeing_RGBblue_largePPT"/>
          <p:cNvPicPr>
            <a:picLocks noChangeAspect="1" noChangeArrowheads="1"/>
          </p:cNvPicPr>
          <p:nvPr/>
        </p:nvPicPr>
        <p:blipFill>
          <a:blip r:embed="rId3" cstate="screen"/>
          <a:srcRect/>
          <a:stretch>
            <a:fillRect/>
          </a:stretch>
        </p:blipFill>
        <p:spPr bwMode="auto">
          <a:xfrm>
            <a:off x="4262214" y="2971800"/>
            <a:ext cx="3693487" cy="895350"/>
          </a:xfrm>
          <a:prstGeom prst="rect">
            <a:avLst/>
          </a:prstGeom>
          <a:noFill/>
          <a:ln w="9525">
            <a:noFill/>
            <a:miter lim="800000"/>
            <a:headEnd/>
            <a:tailEnd/>
          </a:ln>
        </p:spPr>
      </p:pic>
      <p:sp>
        <p:nvSpPr>
          <p:cNvPr id="7" name="Rectangle 81"/>
          <p:cNvSpPr>
            <a:spLocks noChangeArrowheads="1"/>
          </p:cNvSpPr>
          <p:nvPr/>
        </p:nvSpPr>
        <p:spPr bwMode="auto">
          <a:xfrm>
            <a:off x="414629"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hangingPunct="0"/>
            <a:r>
              <a:rPr lang="en-US" sz="600" dirty="0">
                <a:solidFill>
                  <a:srgbClr val="FFFFFF">
                    <a:lumMod val="50000"/>
                  </a:srgbClr>
                </a:solidFill>
              </a:rPr>
              <a:t>Copyright © 2020 Boeing. All rights reserved.</a:t>
            </a:r>
          </a:p>
        </p:txBody>
      </p:sp>
    </p:spTree>
    <p:extLst>
      <p:ext uri="{BB962C8B-B14F-4D97-AF65-F5344CB8AC3E}">
        <p14:creationId xmlns:p14="http://schemas.microsoft.com/office/powerpoint/2010/main" val="1451709067"/>
      </p:ext>
    </p:extLst>
  </p:cSld>
  <p:clrMap bg1="lt1" tx1="dk1" bg2="lt2" tx2="dk2" accent1="accent1" accent2="accent2" accent3="accent3" accent4="accent4" accent5="accent5" accent6="accent6" hlink="hlink" folHlink="folHlink"/>
  <p:sldLayoutIdLst>
    <p:sldLayoutId id="2147483670"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020583" rtl="0" eaLnBrk="1" fontAlgn="base" hangingPunct="1">
        <a:lnSpc>
          <a:spcPct val="90000"/>
        </a:lnSpc>
        <a:spcBef>
          <a:spcPct val="0"/>
        </a:spcBef>
        <a:spcAft>
          <a:spcPct val="0"/>
        </a:spcAft>
        <a:defRPr sz="3200" b="1">
          <a:solidFill>
            <a:schemeClr val="tx2"/>
          </a:solidFill>
          <a:latin typeface="+mj-lt"/>
          <a:ea typeface="+mj-ea"/>
          <a:cs typeface="+mj-cs"/>
        </a:defRPr>
      </a:lvl1pPr>
      <a:lvl2pPr algn="l" defTabSz="1020583" rtl="0" eaLnBrk="1" fontAlgn="base" hangingPunct="1">
        <a:lnSpc>
          <a:spcPct val="90000"/>
        </a:lnSpc>
        <a:spcBef>
          <a:spcPct val="0"/>
        </a:spcBef>
        <a:spcAft>
          <a:spcPct val="0"/>
        </a:spcAft>
        <a:defRPr sz="3200" b="1">
          <a:solidFill>
            <a:schemeClr val="tx2"/>
          </a:solidFill>
          <a:latin typeface="Arial" pitchFamily="34" charset="0"/>
        </a:defRPr>
      </a:lvl2pPr>
      <a:lvl3pPr algn="l" defTabSz="1020583" rtl="0" eaLnBrk="1" fontAlgn="base" hangingPunct="1">
        <a:lnSpc>
          <a:spcPct val="90000"/>
        </a:lnSpc>
        <a:spcBef>
          <a:spcPct val="0"/>
        </a:spcBef>
        <a:spcAft>
          <a:spcPct val="0"/>
        </a:spcAft>
        <a:defRPr sz="3200" b="1">
          <a:solidFill>
            <a:schemeClr val="tx2"/>
          </a:solidFill>
          <a:latin typeface="Arial" pitchFamily="34" charset="0"/>
        </a:defRPr>
      </a:lvl3pPr>
      <a:lvl4pPr algn="l" defTabSz="1020583" rtl="0" eaLnBrk="1" fontAlgn="base" hangingPunct="1">
        <a:lnSpc>
          <a:spcPct val="90000"/>
        </a:lnSpc>
        <a:spcBef>
          <a:spcPct val="0"/>
        </a:spcBef>
        <a:spcAft>
          <a:spcPct val="0"/>
        </a:spcAft>
        <a:defRPr sz="3200" b="1">
          <a:solidFill>
            <a:schemeClr val="tx2"/>
          </a:solidFill>
          <a:latin typeface="Arial" pitchFamily="34" charset="0"/>
        </a:defRPr>
      </a:lvl4pPr>
      <a:lvl5pPr algn="l" defTabSz="1020583" rtl="0" eaLnBrk="1" fontAlgn="base" hangingPunct="1">
        <a:lnSpc>
          <a:spcPct val="90000"/>
        </a:lnSpc>
        <a:spcBef>
          <a:spcPct val="0"/>
        </a:spcBef>
        <a:spcAft>
          <a:spcPct val="0"/>
        </a:spcAft>
        <a:defRPr sz="3200" b="1">
          <a:solidFill>
            <a:schemeClr val="tx2"/>
          </a:solidFill>
          <a:latin typeface="Arial" pitchFamily="34" charset="0"/>
        </a:defRPr>
      </a:lvl5pPr>
      <a:lvl6pPr marL="457120" algn="l" defTabSz="1020583" rtl="0" eaLnBrk="1" fontAlgn="base" hangingPunct="1">
        <a:lnSpc>
          <a:spcPct val="90000"/>
        </a:lnSpc>
        <a:spcBef>
          <a:spcPct val="0"/>
        </a:spcBef>
        <a:spcAft>
          <a:spcPct val="0"/>
        </a:spcAft>
        <a:defRPr sz="3200" b="1">
          <a:solidFill>
            <a:schemeClr val="tx2"/>
          </a:solidFill>
          <a:latin typeface="Arial" pitchFamily="34" charset="0"/>
        </a:defRPr>
      </a:lvl6pPr>
      <a:lvl7pPr marL="914239" algn="l" defTabSz="1020583" rtl="0" eaLnBrk="1" fontAlgn="base" hangingPunct="1">
        <a:lnSpc>
          <a:spcPct val="90000"/>
        </a:lnSpc>
        <a:spcBef>
          <a:spcPct val="0"/>
        </a:spcBef>
        <a:spcAft>
          <a:spcPct val="0"/>
        </a:spcAft>
        <a:defRPr sz="3200" b="1">
          <a:solidFill>
            <a:schemeClr val="tx2"/>
          </a:solidFill>
          <a:latin typeface="Arial" pitchFamily="34" charset="0"/>
        </a:defRPr>
      </a:lvl7pPr>
      <a:lvl8pPr marL="1371359" algn="l" defTabSz="1020583" rtl="0" eaLnBrk="1" fontAlgn="base" hangingPunct="1">
        <a:lnSpc>
          <a:spcPct val="90000"/>
        </a:lnSpc>
        <a:spcBef>
          <a:spcPct val="0"/>
        </a:spcBef>
        <a:spcAft>
          <a:spcPct val="0"/>
        </a:spcAft>
        <a:defRPr sz="3200" b="1">
          <a:solidFill>
            <a:schemeClr val="tx2"/>
          </a:solidFill>
          <a:latin typeface="Arial" pitchFamily="34" charset="0"/>
        </a:defRPr>
      </a:lvl8pPr>
      <a:lvl9pPr marL="1828478" algn="l" defTabSz="1020583" rtl="0" eaLnBrk="1" fontAlgn="base" hangingPunct="1">
        <a:lnSpc>
          <a:spcPct val="90000"/>
        </a:lnSpc>
        <a:spcBef>
          <a:spcPct val="0"/>
        </a:spcBef>
        <a:spcAft>
          <a:spcPct val="0"/>
        </a:spcAft>
        <a:defRPr sz="3200" b="1">
          <a:solidFill>
            <a:schemeClr val="tx2"/>
          </a:solidFill>
          <a:latin typeface="Arial" pitchFamily="34" charset="0"/>
        </a:defRPr>
      </a:lvl9pPr>
    </p:titleStyle>
    <p:bodyStyle>
      <a:lvl1pPr marL="169833" indent="-169833" algn="l" defTabSz="820593" rtl="0" eaLnBrk="1" fontAlgn="base" hangingPunct="1">
        <a:lnSpc>
          <a:spcPct val="90000"/>
        </a:lnSpc>
        <a:spcBef>
          <a:spcPct val="20000"/>
        </a:spcBef>
        <a:spcAft>
          <a:spcPct val="0"/>
        </a:spcAft>
        <a:buClr>
          <a:srgbClr val="0038A8"/>
        </a:buClr>
        <a:buFont typeface="Wingdings" pitchFamily="2" charset="2"/>
        <a:buChar char="§"/>
        <a:defRPr sz="2200" b="1">
          <a:solidFill>
            <a:srgbClr val="000000"/>
          </a:solidFill>
          <a:latin typeface="+mn-lt"/>
          <a:ea typeface="+mn-ea"/>
          <a:cs typeface="+mn-cs"/>
        </a:defRPr>
      </a:lvl1pPr>
      <a:lvl2pPr marL="385695" indent="-214275" algn="l" defTabSz="820593" rtl="0" eaLnBrk="1" fontAlgn="base" hangingPunct="1">
        <a:lnSpc>
          <a:spcPct val="90000"/>
        </a:lnSpc>
        <a:spcBef>
          <a:spcPct val="20000"/>
        </a:spcBef>
        <a:spcAft>
          <a:spcPct val="0"/>
        </a:spcAft>
        <a:buClr>
          <a:srgbClr val="0038A8"/>
        </a:buClr>
        <a:buFont typeface="Arial" pitchFamily="34" charset="0"/>
        <a:buChar char="–"/>
        <a:defRPr sz="2000">
          <a:solidFill>
            <a:srgbClr val="000000"/>
          </a:solidFill>
          <a:latin typeface="+mn-lt"/>
        </a:defRPr>
      </a:lvl2pPr>
      <a:lvl3pPr marL="576162" indent="-174594" algn="l" defTabSz="820593" rtl="0" eaLnBrk="1" fontAlgn="base" hangingPunct="1">
        <a:lnSpc>
          <a:spcPct val="90000"/>
        </a:lnSpc>
        <a:spcBef>
          <a:spcPct val="20000"/>
        </a:spcBef>
        <a:spcAft>
          <a:spcPct val="0"/>
        </a:spcAft>
        <a:buClr>
          <a:srgbClr val="0038A8"/>
        </a:buClr>
        <a:buFont typeface="Wingdings" pitchFamily="2" charset="2"/>
        <a:buChar char="§"/>
        <a:defRPr>
          <a:solidFill>
            <a:srgbClr val="000000"/>
          </a:solidFill>
          <a:latin typeface="+mn-lt"/>
        </a:defRPr>
      </a:lvl3pPr>
      <a:lvl4pPr marL="792023" indent="-163484" algn="l" defTabSz="820593" rtl="0" eaLnBrk="1" fontAlgn="base" hangingPunct="1">
        <a:lnSpc>
          <a:spcPct val="90000"/>
        </a:lnSpc>
        <a:spcBef>
          <a:spcPct val="30000"/>
        </a:spcBef>
        <a:spcAft>
          <a:spcPct val="0"/>
        </a:spcAft>
        <a:buClr>
          <a:schemeClr val="tx2"/>
        </a:buClr>
        <a:buFont typeface="Arial" pitchFamily="34" charset="0"/>
        <a:buChar char="–"/>
        <a:defRPr>
          <a:solidFill>
            <a:schemeClr val="tx1"/>
          </a:solidFill>
          <a:latin typeface="+mn-lt"/>
        </a:defRPr>
      </a:lvl4pPr>
      <a:lvl5pPr marL="957094" indent="-163484" algn="l" defTabSz="820593" rtl="0" eaLnBrk="1" fontAlgn="base" hangingPunct="1">
        <a:lnSpc>
          <a:spcPct val="90000"/>
        </a:lnSpc>
        <a:spcBef>
          <a:spcPct val="30000"/>
        </a:spcBef>
        <a:spcAft>
          <a:spcPct val="0"/>
        </a:spcAft>
        <a:buClr>
          <a:schemeClr val="tx2"/>
        </a:buClr>
        <a:buFont typeface="Arial" pitchFamily="34" charset="0"/>
        <a:buChar char="–"/>
        <a:defRPr sz="1600">
          <a:solidFill>
            <a:schemeClr val="tx1"/>
          </a:solidFill>
          <a:latin typeface="+mn-lt"/>
        </a:defRPr>
      </a:lvl5pPr>
      <a:lvl6pPr marL="1414214" indent="-163484" algn="l" defTabSz="820593" rtl="0" eaLnBrk="1" fontAlgn="base" hangingPunct="1">
        <a:lnSpc>
          <a:spcPct val="90000"/>
        </a:lnSpc>
        <a:spcBef>
          <a:spcPct val="30000"/>
        </a:spcBef>
        <a:spcAft>
          <a:spcPct val="0"/>
        </a:spcAft>
        <a:buClr>
          <a:schemeClr val="tx2"/>
        </a:buClr>
        <a:buFont typeface="Arial" pitchFamily="34" charset="0"/>
        <a:buChar char="–"/>
        <a:defRPr sz="1600">
          <a:solidFill>
            <a:schemeClr val="tx1"/>
          </a:solidFill>
          <a:latin typeface="+mn-lt"/>
        </a:defRPr>
      </a:lvl6pPr>
      <a:lvl7pPr marL="1871333" indent="-163484" algn="l" defTabSz="820593" rtl="0" eaLnBrk="1" fontAlgn="base" hangingPunct="1">
        <a:lnSpc>
          <a:spcPct val="90000"/>
        </a:lnSpc>
        <a:spcBef>
          <a:spcPct val="30000"/>
        </a:spcBef>
        <a:spcAft>
          <a:spcPct val="0"/>
        </a:spcAft>
        <a:buClr>
          <a:schemeClr val="tx2"/>
        </a:buClr>
        <a:buFont typeface="Arial" pitchFamily="34" charset="0"/>
        <a:buChar char="–"/>
        <a:defRPr sz="1600">
          <a:solidFill>
            <a:schemeClr val="tx1"/>
          </a:solidFill>
          <a:latin typeface="+mn-lt"/>
        </a:defRPr>
      </a:lvl7pPr>
      <a:lvl8pPr marL="2328453" indent="-163484" algn="l" defTabSz="820593" rtl="0" eaLnBrk="1" fontAlgn="base" hangingPunct="1">
        <a:lnSpc>
          <a:spcPct val="90000"/>
        </a:lnSpc>
        <a:spcBef>
          <a:spcPct val="30000"/>
        </a:spcBef>
        <a:spcAft>
          <a:spcPct val="0"/>
        </a:spcAft>
        <a:buClr>
          <a:schemeClr val="tx2"/>
        </a:buClr>
        <a:buFont typeface="Arial" pitchFamily="34" charset="0"/>
        <a:buChar char="–"/>
        <a:defRPr sz="1600">
          <a:solidFill>
            <a:schemeClr val="tx1"/>
          </a:solidFill>
          <a:latin typeface="+mn-lt"/>
        </a:defRPr>
      </a:lvl8pPr>
      <a:lvl9pPr marL="2785573" indent="-163484" algn="l" defTabSz="820593" rtl="0" eaLnBrk="1" fontAlgn="base" hangingPunct="1">
        <a:lnSpc>
          <a:spcPct val="90000"/>
        </a:lnSpc>
        <a:spcBef>
          <a:spcPct val="30000"/>
        </a:spcBef>
        <a:spcAft>
          <a:spcPct val="0"/>
        </a:spcAft>
        <a:buClr>
          <a:schemeClr val="tx2"/>
        </a:buClr>
        <a:buFont typeface="Arial" pitchFamily="34" charset="0"/>
        <a:buChar char="–"/>
        <a:defRPr sz="1600">
          <a:solidFill>
            <a:schemeClr val="tx1"/>
          </a:solidFill>
          <a:latin typeface="+mn-lt"/>
        </a:defRPr>
      </a:lvl9pPr>
    </p:bodyStyle>
    <p:otherStyle>
      <a:defPPr>
        <a:defRPr lang="en-US"/>
      </a:defPPr>
      <a:lvl1pPr marL="0" algn="l" defTabSz="914239" rtl="0" eaLnBrk="1" latinLnBrk="0" hangingPunct="1">
        <a:defRPr sz="1800" kern="1200">
          <a:solidFill>
            <a:schemeClr val="tx1"/>
          </a:solidFill>
          <a:latin typeface="+mn-lt"/>
          <a:ea typeface="+mn-ea"/>
          <a:cs typeface="+mn-cs"/>
        </a:defRPr>
      </a:lvl1pPr>
      <a:lvl2pPr marL="457120" algn="l" defTabSz="914239" rtl="0" eaLnBrk="1" latinLnBrk="0" hangingPunct="1">
        <a:defRPr sz="1800" kern="1200">
          <a:solidFill>
            <a:schemeClr val="tx1"/>
          </a:solidFill>
          <a:latin typeface="+mn-lt"/>
          <a:ea typeface="+mn-ea"/>
          <a:cs typeface="+mn-cs"/>
        </a:defRPr>
      </a:lvl2pPr>
      <a:lvl3pPr marL="914239" algn="l" defTabSz="914239" rtl="0" eaLnBrk="1" latinLnBrk="0" hangingPunct="1">
        <a:defRPr sz="1800" kern="1200">
          <a:solidFill>
            <a:schemeClr val="tx1"/>
          </a:solidFill>
          <a:latin typeface="+mn-lt"/>
          <a:ea typeface="+mn-ea"/>
          <a:cs typeface="+mn-cs"/>
        </a:defRPr>
      </a:lvl3pPr>
      <a:lvl4pPr marL="1371359" algn="l" defTabSz="914239" rtl="0" eaLnBrk="1" latinLnBrk="0" hangingPunct="1">
        <a:defRPr sz="1800" kern="1200">
          <a:solidFill>
            <a:schemeClr val="tx1"/>
          </a:solidFill>
          <a:latin typeface="+mn-lt"/>
          <a:ea typeface="+mn-ea"/>
          <a:cs typeface="+mn-cs"/>
        </a:defRPr>
      </a:lvl4pPr>
      <a:lvl5pPr marL="1828478" algn="l" defTabSz="914239" rtl="0" eaLnBrk="1" latinLnBrk="0" hangingPunct="1">
        <a:defRPr sz="1800" kern="1200">
          <a:solidFill>
            <a:schemeClr val="tx1"/>
          </a:solidFill>
          <a:latin typeface="+mn-lt"/>
          <a:ea typeface="+mn-ea"/>
          <a:cs typeface="+mn-cs"/>
        </a:defRPr>
      </a:lvl5pPr>
      <a:lvl6pPr marL="2285598" algn="l" defTabSz="914239" rtl="0" eaLnBrk="1" latinLnBrk="0" hangingPunct="1">
        <a:defRPr sz="1800" kern="1200">
          <a:solidFill>
            <a:schemeClr val="tx1"/>
          </a:solidFill>
          <a:latin typeface="+mn-lt"/>
          <a:ea typeface="+mn-ea"/>
          <a:cs typeface="+mn-cs"/>
        </a:defRPr>
      </a:lvl6pPr>
      <a:lvl7pPr marL="2742717" algn="l" defTabSz="914239" rtl="0" eaLnBrk="1" latinLnBrk="0" hangingPunct="1">
        <a:defRPr sz="1800" kern="1200">
          <a:solidFill>
            <a:schemeClr val="tx1"/>
          </a:solidFill>
          <a:latin typeface="+mn-lt"/>
          <a:ea typeface="+mn-ea"/>
          <a:cs typeface="+mn-cs"/>
        </a:defRPr>
      </a:lvl7pPr>
      <a:lvl8pPr marL="3199836" algn="l" defTabSz="914239" rtl="0" eaLnBrk="1" latinLnBrk="0" hangingPunct="1">
        <a:defRPr sz="1800" kern="1200">
          <a:solidFill>
            <a:schemeClr val="tx1"/>
          </a:solidFill>
          <a:latin typeface="+mn-lt"/>
          <a:ea typeface="+mn-ea"/>
          <a:cs typeface="+mn-cs"/>
        </a:defRPr>
      </a:lvl8pPr>
      <a:lvl9pPr marL="3656956" algn="l" defTabSz="91423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da.web.boeing.com/sites/pd/PMO/Shared%20Documents/2020%20KPIs/DSA-SD-MetricsSpecSummary.docx"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hyperlink" Target="https://test.dat.jeppesen.com/jiradev/rest/api/2/search?jql=project=FPX&amp;maxResults=2000" TargetMode="External"/><Relationship Id="rId2" Type="http://schemas.openxmlformats.org/officeDocument/2006/relationships/hyperlink" Target="https://test.dat.jeppesen.com/jiradev/rest/api/2/search?jql=project=IDDS&amp;maxResults=200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mattermost.web.boeing.com/btneis/channels/town-squar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319" y="3032956"/>
            <a:ext cx="11286635" cy="609398"/>
          </a:xfrm>
        </p:spPr>
        <p:txBody>
          <a:bodyPr/>
          <a:lstStyle/>
          <a:p>
            <a:r>
              <a:rPr lang="en-US" b="1" dirty="0"/>
              <a:t>SDA KPI Project Problem Statement Demo</a:t>
            </a:r>
          </a:p>
        </p:txBody>
      </p:sp>
      <p:sp>
        <p:nvSpPr>
          <p:cNvPr id="3" name="Subtitle 2"/>
          <p:cNvSpPr>
            <a:spLocks noGrp="1"/>
          </p:cNvSpPr>
          <p:nvPr>
            <p:ph type="subTitle" idx="1"/>
          </p:nvPr>
        </p:nvSpPr>
        <p:spPr>
          <a:xfrm>
            <a:off x="443372" y="4689140"/>
            <a:ext cx="11286635" cy="332399"/>
          </a:xfrm>
        </p:spPr>
        <p:txBody>
          <a:bodyPr/>
          <a:lstStyle/>
          <a:p>
            <a:r>
              <a:rPr lang="en-US" dirty="0"/>
              <a:t>Inner Source &amp; Technical Solutions, July 2022</a:t>
            </a:r>
            <a:endParaRPr lang="en-IN" dirty="0"/>
          </a:p>
        </p:txBody>
      </p:sp>
    </p:spTree>
    <p:extLst>
      <p:ext uri="{BB962C8B-B14F-4D97-AF65-F5344CB8AC3E}">
        <p14:creationId xmlns:p14="http://schemas.microsoft.com/office/powerpoint/2010/main" val="3569486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9CF89-E684-408A-A61B-1EE4BEECEDA9}"/>
              </a:ext>
            </a:extLst>
          </p:cNvPr>
          <p:cNvSpPr>
            <a:spLocks noGrp="1"/>
          </p:cNvSpPr>
          <p:nvPr>
            <p:ph type="title"/>
          </p:nvPr>
        </p:nvSpPr>
        <p:spPr>
          <a:xfrm>
            <a:off x="457319" y="296652"/>
            <a:ext cx="11286635" cy="421886"/>
          </a:xfrm>
        </p:spPr>
        <p:txBody>
          <a:bodyPr/>
          <a:lstStyle/>
          <a:p>
            <a:r>
              <a:rPr lang="en-US" sz="2800" dirty="0"/>
              <a:t>Problem Statement</a:t>
            </a:r>
          </a:p>
        </p:txBody>
      </p:sp>
      <p:sp>
        <p:nvSpPr>
          <p:cNvPr id="4" name="Footer Placeholder 3">
            <a:extLst>
              <a:ext uri="{FF2B5EF4-FFF2-40B4-BE49-F238E27FC236}">
                <a16:creationId xmlns:a16="http://schemas.microsoft.com/office/drawing/2014/main" id="{ECCAF699-6986-4606-BDB9-19ABEA4FC8F0}"/>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D60F8CC5-A079-48F1-A9F3-02C79C53A917}"/>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2</a:t>
            </a:fld>
            <a:endParaRPr lang="en-US" sz="1000" dirty="0">
              <a:solidFill>
                <a:srgbClr val="FFFFFF">
                  <a:lumMod val="50000"/>
                </a:srgbClr>
              </a:solidFill>
            </a:endParaRPr>
          </a:p>
        </p:txBody>
      </p:sp>
      <p:sp>
        <p:nvSpPr>
          <p:cNvPr id="6" name="Text Placeholder 5">
            <a:extLst>
              <a:ext uri="{FF2B5EF4-FFF2-40B4-BE49-F238E27FC236}">
                <a16:creationId xmlns:a16="http://schemas.microsoft.com/office/drawing/2014/main" id="{D959945C-8F29-4D1C-A64C-47626A80F2D3}"/>
              </a:ext>
            </a:extLst>
          </p:cNvPr>
          <p:cNvSpPr>
            <a:spLocks noGrp="1"/>
          </p:cNvSpPr>
          <p:nvPr>
            <p:ph type="body" sz="quarter" idx="13"/>
          </p:nvPr>
        </p:nvSpPr>
        <p:spPr>
          <a:xfrm>
            <a:off x="449570" y="867141"/>
            <a:ext cx="11289747" cy="221599"/>
          </a:xfrm>
        </p:spPr>
        <p:txBody>
          <a:bodyPr/>
          <a:lstStyle/>
          <a:p>
            <a:r>
              <a:rPr lang="en-US" sz="1600" b="1" dirty="0"/>
              <a:t>The SDA KPI dashboard is used for Monitoring Performance of Multiple Portfolios/products periodically.</a:t>
            </a:r>
            <a:endParaRPr lang="en-US" sz="1600" dirty="0"/>
          </a:p>
        </p:txBody>
      </p:sp>
      <p:pic>
        <p:nvPicPr>
          <p:cNvPr id="7" name="Picture 6">
            <a:extLst>
              <a:ext uri="{FF2B5EF4-FFF2-40B4-BE49-F238E27FC236}">
                <a16:creationId xmlns:a16="http://schemas.microsoft.com/office/drawing/2014/main" id="{2D040593-4B2E-46B5-AE68-527C904D0DF2}"/>
              </a:ext>
            </a:extLst>
          </p:cNvPr>
          <p:cNvPicPr>
            <a:picLocks noChangeAspect="1"/>
          </p:cNvPicPr>
          <p:nvPr/>
        </p:nvPicPr>
        <p:blipFill>
          <a:blip r:embed="rId2"/>
          <a:stretch>
            <a:fillRect/>
          </a:stretch>
        </p:blipFill>
        <p:spPr>
          <a:xfrm>
            <a:off x="707865" y="4869146"/>
            <a:ext cx="1127949" cy="1116138"/>
          </a:xfrm>
          <a:prstGeom prst="rect">
            <a:avLst/>
          </a:prstGeom>
        </p:spPr>
      </p:pic>
      <p:pic>
        <p:nvPicPr>
          <p:cNvPr id="9" name="Picture 8">
            <a:extLst>
              <a:ext uri="{FF2B5EF4-FFF2-40B4-BE49-F238E27FC236}">
                <a16:creationId xmlns:a16="http://schemas.microsoft.com/office/drawing/2014/main" id="{6C950237-EA46-45E6-9407-19EE6AD03993}"/>
              </a:ext>
            </a:extLst>
          </p:cNvPr>
          <p:cNvPicPr>
            <a:picLocks noChangeAspect="1"/>
          </p:cNvPicPr>
          <p:nvPr/>
        </p:nvPicPr>
        <p:blipFill>
          <a:blip r:embed="rId3"/>
          <a:stretch>
            <a:fillRect/>
          </a:stretch>
        </p:blipFill>
        <p:spPr>
          <a:xfrm>
            <a:off x="4223792" y="4439823"/>
            <a:ext cx="2377015" cy="1549238"/>
          </a:xfrm>
          <a:prstGeom prst="rect">
            <a:avLst/>
          </a:prstGeom>
        </p:spPr>
      </p:pic>
      <p:sp>
        <p:nvSpPr>
          <p:cNvPr id="11" name="Rectangle: Diagonal Corners Rounded 10">
            <a:extLst>
              <a:ext uri="{FF2B5EF4-FFF2-40B4-BE49-F238E27FC236}">
                <a16:creationId xmlns:a16="http://schemas.microsoft.com/office/drawing/2014/main" id="{83C36796-4E01-47B1-A807-3CDDE7E27DF5}"/>
              </a:ext>
            </a:extLst>
          </p:cNvPr>
          <p:cNvSpPr/>
          <p:nvPr/>
        </p:nvSpPr>
        <p:spPr>
          <a:xfrm>
            <a:off x="8988785" y="4725144"/>
            <a:ext cx="2377016" cy="1152128"/>
          </a:xfrm>
          <a:prstGeom prst="round2Diag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b="1" kern="0" dirty="0">
                <a:solidFill>
                  <a:prstClr val="white"/>
                </a:solidFill>
                <a:latin typeface="+mn-lt"/>
              </a:rPr>
              <a:t>Next Generation Dashboard</a:t>
            </a:r>
          </a:p>
        </p:txBody>
      </p:sp>
      <p:sp>
        <p:nvSpPr>
          <p:cNvPr id="12" name="Arrow: Right 11">
            <a:extLst>
              <a:ext uri="{FF2B5EF4-FFF2-40B4-BE49-F238E27FC236}">
                <a16:creationId xmlns:a16="http://schemas.microsoft.com/office/drawing/2014/main" id="{1AA74FEC-90CD-4A0A-8B5E-559667DFD5D5}"/>
              </a:ext>
            </a:extLst>
          </p:cNvPr>
          <p:cNvSpPr/>
          <p:nvPr/>
        </p:nvSpPr>
        <p:spPr>
          <a:xfrm>
            <a:off x="2598298" y="5409220"/>
            <a:ext cx="836004" cy="31926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14" name="Arrow: Right 13">
            <a:extLst>
              <a:ext uri="{FF2B5EF4-FFF2-40B4-BE49-F238E27FC236}">
                <a16:creationId xmlns:a16="http://schemas.microsoft.com/office/drawing/2014/main" id="{9B2C8B1D-583D-4AD3-9C68-420075DE90EC}"/>
              </a:ext>
            </a:extLst>
          </p:cNvPr>
          <p:cNvSpPr/>
          <p:nvPr/>
        </p:nvSpPr>
        <p:spPr>
          <a:xfrm>
            <a:off x="7390297" y="5331679"/>
            <a:ext cx="808998" cy="32357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16" name="TextBox 15">
            <a:extLst>
              <a:ext uri="{FF2B5EF4-FFF2-40B4-BE49-F238E27FC236}">
                <a16:creationId xmlns:a16="http://schemas.microsoft.com/office/drawing/2014/main" id="{A4FA13EF-B022-4C08-8CB1-FFB159E45334}"/>
              </a:ext>
            </a:extLst>
          </p:cNvPr>
          <p:cNvSpPr txBox="1"/>
          <p:nvPr/>
        </p:nvSpPr>
        <p:spPr>
          <a:xfrm>
            <a:off x="4602209" y="6104329"/>
            <a:ext cx="1620180" cy="276999"/>
          </a:xfrm>
          <a:prstGeom prst="rect">
            <a:avLst/>
          </a:prstGeom>
          <a:noFill/>
        </p:spPr>
        <p:txBody>
          <a:bodyPr wrap="square" rtlCol="0">
            <a:spAutoFit/>
          </a:bodyPr>
          <a:lstStyle/>
          <a:p>
            <a:r>
              <a:rPr lang="en-US" sz="1200" b="1" dirty="0"/>
              <a:t>Existing Dashboard</a:t>
            </a:r>
          </a:p>
        </p:txBody>
      </p:sp>
      <p:sp>
        <p:nvSpPr>
          <p:cNvPr id="17" name="TextBox 16">
            <a:extLst>
              <a:ext uri="{FF2B5EF4-FFF2-40B4-BE49-F238E27FC236}">
                <a16:creationId xmlns:a16="http://schemas.microsoft.com/office/drawing/2014/main" id="{F7FDFA07-3850-4D0A-925F-0BF3A84AB229}"/>
              </a:ext>
            </a:extLst>
          </p:cNvPr>
          <p:cNvSpPr txBox="1"/>
          <p:nvPr/>
        </p:nvSpPr>
        <p:spPr>
          <a:xfrm>
            <a:off x="557991" y="6011995"/>
            <a:ext cx="1427695" cy="461665"/>
          </a:xfrm>
          <a:prstGeom prst="rect">
            <a:avLst/>
          </a:prstGeom>
          <a:noFill/>
        </p:spPr>
        <p:txBody>
          <a:bodyPr wrap="square" rtlCol="0">
            <a:spAutoFit/>
          </a:bodyPr>
          <a:lstStyle/>
          <a:p>
            <a:pPr algn="ctr"/>
            <a:r>
              <a:rPr lang="en-US" sz="1200" b="1" dirty="0"/>
              <a:t>Old Spreadsheet Dashboard</a:t>
            </a:r>
          </a:p>
        </p:txBody>
      </p:sp>
      <p:sp>
        <p:nvSpPr>
          <p:cNvPr id="18" name="TextBox 17">
            <a:extLst>
              <a:ext uri="{FF2B5EF4-FFF2-40B4-BE49-F238E27FC236}">
                <a16:creationId xmlns:a16="http://schemas.microsoft.com/office/drawing/2014/main" id="{FCDEDDC2-9B11-4BD5-A23C-498BDE6F40F4}"/>
              </a:ext>
            </a:extLst>
          </p:cNvPr>
          <p:cNvSpPr txBox="1"/>
          <p:nvPr/>
        </p:nvSpPr>
        <p:spPr>
          <a:xfrm>
            <a:off x="9502406" y="6038251"/>
            <a:ext cx="1349774" cy="276999"/>
          </a:xfrm>
          <a:prstGeom prst="rect">
            <a:avLst/>
          </a:prstGeom>
          <a:noFill/>
        </p:spPr>
        <p:txBody>
          <a:bodyPr wrap="square" rtlCol="0">
            <a:spAutoFit/>
          </a:bodyPr>
          <a:lstStyle/>
          <a:p>
            <a:r>
              <a:rPr lang="en-US" sz="1200" b="1" dirty="0"/>
              <a:t>New Dashboard</a:t>
            </a:r>
          </a:p>
        </p:txBody>
      </p:sp>
      <p:sp>
        <p:nvSpPr>
          <p:cNvPr id="3" name="Content Placeholder 2">
            <a:extLst>
              <a:ext uri="{FF2B5EF4-FFF2-40B4-BE49-F238E27FC236}">
                <a16:creationId xmlns:a16="http://schemas.microsoft.com/office/drawing/2014/main" id="{4CE57FC0-E82C-4838-AD1D-402DCE8EE7B1}"/>
              </a:ext>
            </a:extLst>
          </p:cNvPr>
          <p:cNvSpPr>
            <a:spLocks noGrp="1"/>
          </p:cNvSpPr>
          <p:nvPr>
            <p:ph idx="1"/>
          </p:nvPr>
        </p:nvSpPr>
        <p:spPr>
          <a:xfrm>
            <a:off x="457319" y="1309309"/>
            <a:ext cx="11281998" cy="3468642"/>
          </a:xfrm>
        </p:spPr>
        <p:txBody>
          <a:bodyPr/>
          <a:lstStyle/>
          <a:p>
            <a:pPr>
              <a:lnSpc>
                <a:spcPct val="100000"/>
              </a:lnSpc>
            </a:pPr>
            <a:r>
              <a:rPr lang="en-US" sz="1400" dirty="0"/>
              <a:t>Currently existing SDA (Software Development &amp; Analytics) KPI dashboard was built to replace the old spreadsheet dashboard which was used for tracking KPIs for the SDA organization.  </a:t>
            </a:r>
          </a:p>
          <a:p>
            <a:pPr>
              <a:lnSpc>
                <a:spcPct val="100000"/>
              </a:lnSpc>
            </a:pPr>
            <a:r>
              <a:rPr lang="en-US" sz="1400" dirty="0"/>
              <a:t>The current application that was replaced exists in the AWS Jira environment.  </a:t>
            </a:r>
          </a:p>
          <a:p>
            <a:pPr>
              <a:lnSpc>
                <a:spcPct val="100000"/>
              </a:lnSpc>
            </a:pPr>
            <a:r>
              <a:rPr lang="en-US" sz="1400" dirty="0"/>
              <a:t>Drawbacks of the current implementation is that users require special access to view and it also has some limitations based on the technology that was developed.  </a:t>
            </a:r>
          </a:p>
          <a:p>
            <a:pPr>
              <a:lnSpc>
                <a:spcPct val="100000"/>
              </a:lnSpc>
            </a:pPr>
            <a:r>
              <a:rPr lang="en-US" sz="1400" dirty="0"/>
              <a:t>This challenge seeks to re-think how it is implemented and provide better flexibility to upgrade and ease user access. </a:t>
            </a:r>
          </a:p>
          <a:p>
            <a:pPr>
              <a:lnSpc>
                <a:spcPct val="100000"/>
              </a:lnSpc>
            </a:pPr>
            <a:r>
              <a:rPr lang="en-US" sz="1400" dirty="0"/>
              <a:t>Participants are expected to build an end-to-end application (Next Generation dashboard) which includes a web interface to edit the SDA KPI data in the web application by using any Boeing approved technologies.</a:t>
            </a:r>
          </a:p>
          <a:p>
            <a:pPr marL="0" indent="0">
              <a:lnSpc>
                <a:spcPct val="150000"/>
              </a:lnSpc>
              <a:buNone/>
            </a:pPr>
            <a:r>
              <a:rPr lang="en-US" sz="1400" b="1" dirty="0"/>
              <a:t>Inputs to be provided for challenge:-</a:t>
            </a:r>
          </a:p>
          <a:p>
            <a:pPr>
              <a:lnSpc>
                <a:spcPct val="100000"/>
              </a:lnSpc>
            </a:pPr>
            <a:r>
              <a:rPr lang="en-US" sz="1400" dirty="0"/>
              <a:t>A sample of the original excel as well as visuals of the current application will be provided.  </a:t>
            </a:r>
          </a:p>
          <a:p>
            <a:pPr>
              <a:lnSpc>
                <a:spcPct val="100000"/>
              </a:lnSpc>
            </a:pPr>
            <a:r>
              <a:rPr lang="en-US" sz="1400" dirty="0"/>
              <a:t>Additionally a </a:t>
            </a:r>
            <a:r>
              <a:rPr lang="en-US" sz="1400" u="sng" dirty="0">
                <a:hlinkClick r:id="rId4"/>
              </a:rPr>
              <a:t>metrics specification</a:t>
            </a:r>
            <a:r>
              <a:rPr lang="en-US" sz="1400" u="sng" dirty="0"/>
              <a:t> </a:t>
            </a:r>
            <a:r>
              <a:rPr lang="en-US" sz="1400" dirty="0"/>
              <a:t>exists to give additional details for each of the current elements.</a:t>
            </a:r>
          </a:p>
          <a:p>
            <a:pPr>
              <a:lnSpc>
                <a:spcPct val="100000"/>
              </a:lnSpc>
            </a:pPr>
            <a:r>
              <a:rPr lang="en-US" sz="1400" dirty="0"/>
              <a:t>Jira Access URL and token </a:t>
            </a:r>
          </a:p>
          <a:p>
            <a:endParaRPr lang="en-US" sz="1400" dirty="0"/>
          </a:p>
        </p:txBody>
      </p:sp>
    </p:spTree>
    <p:extLst>
      <p:ext uri="{BB962C8B-B14F-4D97-AF65-F5344CB8AC3E}">
        <p14:creationId xmlns:p14="http://schemas.microsoft.com/office/powerpoint/2010/main" val="386931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AC18D-A9B4-4FCF-B92B-BB864A8C75F4}"/>
              </a:ext>
            </a:extLst>
          </p:cNvPr>
          <p:cNvSpPr>
            <a:spLocks noGrp="1"/>
          </p:cNvSpPr>
          <p:nvPr>
            <p:ph type="title"/>
          </p:nvPr>
        </p:nvSpPr>
        <p:spPr/>
        <p:txBody>
          <a:bodyPr/>
          <a:lstStyle/>
          <a:p>
            <a:r>
              <a:rPr lang="en-US" dirty="0"/>
              <a:t>Problem Statement Explanation </a:t>
            </a:r>
          </a:p>
        </p:txBody>
      </p:sp>
      <p:sp>
        <p:nvSpPr>
          <p:cNvPr id="3" name="Content Placeholder 2">
            <a:extLst>
              <a:ext uri="{FF2B5EF4-FFF2-40B4-BE49-F238E27FC236}">
                <a16:creationId xmlns:a16="http://schemas.microsoft.com/office/drawing/2014/main" id="{AE57050C-1046-4B92-8299-F14C1A75BA8D}"/>
              </a:ext>
            </a:extLst>
          </p:cNvPr>
          <p:cNvSpPr>
            <a:spLocks noGrp="1"/>
          </p:cNvSpPr>
          <p:nvPr>
            <p:ph idx="1"/>
          </p:nvPr>
        </p:nvSpPr>
        <p:spPr>
          <a:xfrm>
            <a:off x="457320" y="1448781"/>
            <a:ext cx="11286635" cy="4302716"/>
          </a:xfrm>
        </p:spPr>
        <p:txBody>
          <a:bodyPr/>
          <a:lstStyle/>
          <a:p>
            <a:pPr marL="0" indent="0">
              <a:buNone/>
            </a:pPr>
            <a:r>
              <a:rPr lang="en-US" sz="2000" dirty="0"/>
              <a:t>All the KPI metrics should be entered / captured as a product level</a:t>
            </a:r>
          </a:p>
          <a:p>
            <a:endParaRPr lang="en-US" sz="2000" b="1" dirty="0"/>
          </a:p>
          <a:p>
            <a:r>
              <a:rPr lang="en-US" sz="2000" b="1" dirty="0"/>
              <a:t>Product</a:t>
            </a:r>
          </a:p>
          <a:p>
            <a:pPr lvl="1"/>
            <a:r>
              <a:rPr lang="en-US" sz="1800" dirty="0"/>
              <a:t>Each and every Project called as a product</a:t>
            </a:r>
          </a:p>
          <a:p>
            <a:endParaRPr lang="en-US" sz="2000" dirty="0"/>
          </a:p>
          <a:p>
            <a:r>
              <a:rPr lang="en-US" sz="2000" b="1" dirty="0"/>
              <a:t>Portfolio</a:t>
            </a:r>
          </a:p>
          <a:p>
            <a:pPr lvl="1"/>
            <a:r>
              <a:rPr lang="en-US" sz="1800" dirty="0"/>
              <a:t>Products grouped as a Portfolio</a:t>
            </a:r>
          </a:p>
          <a:p>
            <a:endParaRPr lang="en-US" sz="2000" dirty="0"/>
          </a:p>
          <a:p>
            <a:r>
              <a:rPr lang="en-US" sz="2000" b="1" dirty="0"/>
              <a:t>Overall</a:t>
            </a:r>
          </a:p>
          <a:p>
            <a:pPr lvl="1"/>
            <a:r>
              <a:rPr lang="en-US" sz="1800" dirty="0"/>
              <a:t>Portfolio grouped as a Overall KPI</a:t>
            </a:r>
          </a:p>
          <a:p>
            <a:endParaRPr lang="en-US" dirty="0"/>
          </a:p>
          <a:p>
            <a:endParaRPr lang="en-US" dirty="0"/>
          </a:p>
        </p:txBody>
      </p:sp>
      <p:sp>
        <p:nvSpPr>
          <p:cNvPr id="4" name="Footer Placeholder 3">
            <a:extLst>
              <a:ext uri="{FF2B5EF4-FFF2-40B4-BE49-F238E27FC236}">
                <a16:creationId xmlns:a16="http://schemas.microsoft.com/office/drawing/2014/main" id="{06BCE040-1AD8-49B4-9C5B-1906911068BD}"/>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1B7E94B0-1CD0-4F8D-AFC8-12F997B21949}"/>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3</a:t>
            </a:fld>
            <a:endParaRPr lang="en-US" sz="1000" dirty="0">
              <a:solidFill>
                <a:srgbClr val="FFFFFF">
                  <a:lumMod val="50000"/>
                </a:srgbClr>
              </a:solidFill>
            </a:endParaRPr>
          </a:p>
        </p:txBody>
      </p:sp>
      <p:sp>
        <p:nvSpPr>
          <p:cNvPr id="7" name="Rectangle 6">
            <a:extLst>
              <a:ext uri="{FF2B5EF4-FFF2-40B4-BE49-F238E27FC236}">
                <a16:creationId xmlns:a16="http://schemas.microsoft.com/office/drawing/2014/main" id="{6C23812E-DB95-4362-B404-484893822B5B}"/>
              </a:ext>
            </a:extLst>
          </p:cNvPr>
          <p:cNvSpPr/>
          <p:nvPr/>
        </p:nvSpPr>
        <p:spPr>
          <a:xfrm>
            <a:off x="900713" y="5254030"/>
            <a:ext cx="1620180" cy="10081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kern="0" dirty="0">
                <a:solidFill>
                  <a:prstClr val="white"/>
                </a:solidFill>
                <a:latin typeface="+mn-lt"/>
              </a:rPr>
              <a:t>Product</a:t>
            </a:r>
          </a:p>
        </p:txBody>
      </p:sp>
      <p:sp>
        <p:nvSpPr>
          <p:cNvPr id="8" name="Rectangle 7">
            <a:extLst>
              <a:ext uri="{FF2B5EF4-FFF2-40B4-BE49-F238E27FC236}">
                <a16:creationId xmlns:a16="http://schemas.microsoft.com/office/drawing/2014/main" id="{0564C0A0-0BA6-4D98-A288-E78EAA4985D3}"/>
              </a:ext>
            </a:extLst>
          </p:cNvPr>
          <p:cNvSpPr/>
          <p:nvPr/>
        </p:nvSpPr>
        <p:spPr>
          <a:xfrm>
            <a:off x="4851760" y="5254029"/>
            <a:ext cx="1620180" cy="10081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kern="0" dirty="0">
                <a:solidFill>
                  <a:prstClr val="white"/>
                </a:solidFill>
                <a:latin typeface="+mn-lt"/>
              </a:rPr>
              <a:t>Portfolio</a:t>
            </a:r>
          </a:p>
        </p:txBody>
      </p:sp>
      <p:sp>
        <p:nvSpPr>
          <p:cNvPr id="9" name="Rectangle 8">
            <a:extLst>
              <a:ext uri="{FF2B5EF4-FFF2-40B4-BE49-F238E27FC236}">
                <a16:creationId xmlns:a16="http://schemas.microsoft.com/office/drawing/2014/main" id="{39E06A9C-B295-4DFD-A6F0-6A03B77C36FE}"/>
              </a:ext>
            </a:extLst>
          </p:cNvPr>
          <p:cNvSpPr/>
          <p:nvPr/>
        </p:nvSpPr>
        <p:spPr>
          <a:xfrm>
            <a:off x="9398240" y="5115530"/>
            <a:ext cx="1620180" cy="10081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kern="0" dirty="0">
                <a:solidFill>
                  <a:prstClr val="white"/>
                </a:solidFill>
                <a:latin typeface="+mn-lt"/>
              </a:rPr>
              <a:t>Overall KPI</a:t>
            </a:r>
          </a:p>
        </p:txBody>
      </p:sp>
      <p:sp>
        <p:nvSpPr>
          <p:cNvPr id="10" name="Right Arrow 9">
            <a:extLst>
              <a:ext uri="{FF2B5EF4-FFF2-40B4-BE49-F238E27FC236}">
                <a16:creationId xmlns:a16="http://schemas.microsoft.com/office/drawing/2014/main" id="{967BB542-9B45-4143-A356-87F75F90642C}"/>
              </a:ext>
            </a:extLst>
          </p:cNvPr>
          <p:cNvSpPr/>
          <p:nvPr/>
        </p:nvSpPr>
        <p:spPr>
          <a:xfrm>
            <a:off x="2997748" y="5496522"/>
            <a:ext cx="625698" cy="46805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11" name="Right Arrow 10">
            <a:extLst>
              <a:ext uri="{FF2B5EF4-FFF2-40B4-BE49-F238E27FC236}">
                <a16:creationId xmlns:a16="http://schemas.microsoft.com/office/drawing/2014/main" id="{112F9273-C28C-4A60-9D6D-BF9FDA079D1C}"/>
              </a:ext>
            </a:extLst>
          </p:cNvPr>
          <p:cNvSpPr/>
          <p:nvPr/>
        </p:nvSpPr>
        <p:spPr>
          <a:xfrm>
            <a:off x="7756212" y="5481464"/>
            <a:ext cx="625698" cy="46805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12" name="TextBox 11">
            <a:extLst>
              <a:ext uri="{FF2B5EF4-FFF2-40B4-BE49-F238E27FC236}">
                <a16:creationId xmlns:a16="http://schemas.microsoft.com/office/drawing/2014/main" id="{F7CA37D0-FEEE-49DB-A634-E56D308F265D}"/>
              </a:ext>
            </a:extLst>
          </p:cNvPr>
          <p:cNvSpPr txBox="1"/>
          <p:nvPr/>
        </p:nvSpPr>
        <p:spPr>
          <a:xfrm>
            <a:off x="2948062" y="5217598"/>
            <a:ext cx="684076" cy="276999"/>
          </a:xfrm>
          <a:prstGeom prst="rect">
            <a:avLst/>
          </a:prstGeom>
          <a:noFill/>
        </p:spPr>
        <p:txBody>
          <a:bodyPr wrap="square" rtlCol="0">
            <a:spAutoFit/>
          </a:bodyPr>
          <a:lstStyle/>
          <a:p>
            <a:r>
              <a:rPr lang="en-US" sz="1200" dirty="0"/>
              <a:t>Rollup</a:t>
            </a:r>
          </a:p>
        </p:txBody>
      </p:sp>
      <p:sp>
        <p:nvSpPr>
          <p:cNvPr id="13" name="TextBox 12">
            <a:extLst>
              <a:ext uri="{FF2B5EF4-FFF2-40B4-BE49-F238E27FC236}">
                <a16:creationId xmlns:a16="http://schemas.microsoft.com/office/drawing/2014/main" id="{EBAD553F-FA30-495E-A091-23838E034846}"/>
              </a:ext>
            </a:extLst>
          </p:cNvPr>
          <p:cNvSpPr txBox="1"/>
          <p:nvPr/>
        </p:nvSpPr>
        <p:spPr>
          <a:xfrm>
            <a:off x="7702255" y="5204465"/>
            <a:ext cx="684076" cy="276999"/>
          </a:xfrm>
          <a:prstGeom prst="rect">
            <a:avLst/>
          </a:prstGeom>
          <a:noFill/>
        </p:spPr>
        <p:txBody>
          <a:bodyPr wrap="square" rtlCol="0">
            <a:spAutoFit/>
          </a:bodyPr>
          <a:lstStyle/>
          <a:p>
            <a:r>
              <a:rPr lang="en-US" sz="1200" dirty="0"/>
              <a:t>Rollup</a:t>
            </a:r>
          </a:p>
        </p:txBody>
      </p:sp>
      <p:pic>
        <p:nvPicPr>
          <p:cNvPr id="14" name="Picture 13">
            <a:extLst>
              <a:ext uri="{FF2B5EF4-FFF2-40B4-BE49-F238E27FC236}">
                <a16:creationId xmlns:a16="http://schemas.microsoft.com/office/drawing/2014/main" id="{12CB8A7D-FB90-498B-9656-092F5699B021}"/>
              </a:ext>
            </a:extLst>
          </p:cNvPr>
          <p:cNvPicPr>
            <a:picLocks noChangeAspect="1"/>
          </p:cNvPicPr>
          <p:nvPr/>
        </p:nvPicPr>
        <p:blipFill>
          <a:blip r:embed="rId2"/>
          <a:stretch>
            <a:fillRect/>
          </a:stretch>
        </p:blipFill>
        <p:spPr>
          <a:xfrm>
            <a:off x="5555940" y="2233474"/>
            <a:ext cx="2309946" cy="2352007"/>
          </a:xfrm>
          <a:prstGeom prst="rect">
            <a:avLst/>
          </a:prstGeom>
        </p:spPr>
      </p:pic>
      <p:pic>
        <p:nvPicPr>
          <p:cNvPr id="15" name="Picture 14">
            <a:extLst>
              <a:ext uri="{FF2B5EF4-FFF2-40B4-BE49-F238E27FC236}">
                <a16:creationId xmlns:a16="http://schemas.microsoft.com/office/drawing/2014/main" id="{0C57DBC4-A44B-4427-AE60-11B774275DA3}"/>
              </a:ext>
            </a:extLst>
          </p:cNvPr>
          <p:cNvPicPr>
            <a:picLocks noChangeAspect="1"/>
          </p:cNvPicPr>
          <p:nvPr/>
        </p:nvPicPr>
        <p:blipFill>
          <a:blip r:embed="rId3"/>
          <a:stretch>
            <a:fillRect/>
          </a:stretch>
        </p:blipFill>
        <p:spPr>
          <a:xfrm>
            <a:off x="9012324" y="2105265"/>
            <a:ext cx="2309945" cy="2638120"/>
          </a:xfrm>
          <a:prstGeom prst="rect">
            <a:avLst/>
          </a:prstGeom>
        </p:spPr>
      </p:pic>
    </p:spTree>
    <p:extLst>
      <p:ext uri="{BB962C8B-B14F-4D97-AF65-F5344CB8AC3E}">
        <p14:creationId xmlns:p14="http://schemas.microsoft.com/office/powerpoint/2010/main" val="2959629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SDA KPI Dashboard</a:t>
            </a:r>
          </a:p>
        </p:txBody>
      </p:sp>
      <p:sp>
        <p:nvSpPr>
          <p:cNvPr id="4" name="Footer Placeholder 3"/>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4</a:t>
            </a:fld>
            <a:endParaRPr lang="en-US" sz="1000" dirty="0">
              <a:solidFill>
                <a:srgbClr val="FFFFFF">
                  <a:lumMod val="50000"/>
                </a:srgbClr>
              </a:solidFill>
            </a:endParaRPr>
          </a:p>
        </p:txBody>
      </p:sp>
      <p:sp>
        <p:nvSpPr>
          <p:cNvPr id="7" name="Rectangle 6"/>
          <p:cNvSpPr/>
          <p:nvPr/>
        </p:nvSpPr>
        <p:spPr>
          <a:xfrm>
            <a:off x="730821" y="1405180"/>
            <a:ext cx="1620180" cy="10081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kern="0" dirty="0">
                <a:solidFill>
                  <a:prstClr val="white"/>
                </a:solidFill>
                <a:latin typeface="+mn-lt"/>
              </a:rPr>
              <a:t>Product</a:t>
            </a:r>
          </a:p>
        </p:txBody>
      </p:sp>
      <p:sp>
        <p:nvSpPr>
          <p:cNvPr id="8" name="Rectangle 7"/>
          <p:cNvSpPr/>
          <p:nvPr/>
        </p:nvSpPr>
        <p:spPr>
          <a:xfrm>
            <a:off x="4681868" y="1405179"/>
            <a:ext cx="1620180" cy="10081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kern="0" dirty="0">
                <a:solidFill>
                  <a:prstClr val="white"/>
                </a:solidFill>
                <a:latin typeface="+mn-lt"/>
              </a:rPr>
              <a:t>Portfolio</a:t>
            </a:r>
          </a:p>
        </p:txBody>
      </p:sp>
      <p:sp>
        <p:nvSpPr>
          <p:cNvPr id="9" name="Rectangle 8"/>
          <p:cNvSpPr/>
          <p:nvPr/>
        </p:nvSpPr>
        <p:spPr>
          <a:xfrm>
            <a:off x="9228348" y="1266680"/>
            <a:ext cx="1620180" cy="10081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kern="0" dirty="0">
                <a:solidFill>
                  <a:prstClr val="white"/>
                </a:solidFill>
                <a:latin typeface="+mn-lt"/>
              </a:rPr>
              <a:t>Overall KPI</a:t>
            </a:r>
          </a:p>
        </p:txBody>
      </p:sp>
      <p:sp>
        <p:nvSpPr>
          <p:cNvPr id="10" name="Right Arrow 9"/>
          <p:cNvSpPr/>
          <p:nvPr/>
        </p:nvSpPr>
        <p:spPr>
          <a:xfrm>
            <a:off x="2827856" y="1647672"/>
            <a:ext cx="625698" cy="46805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11" name="Right Arrow 10"/>
          <p:cNvSpPr/>
          <p:nvPr/>
        </p:nvSpPr>
        <p:spPr>
          <a:xfrm>
            <a:off x="7586320" y="1632614"/>
            <a:ext cx="625698" cy="46805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12" name="TextBox 11"/>
          <p:cNvSpPr txBox="1"/>
          <p:nvPr/>
        </p:nvSpPr>
        <p:spPr>
          <a:xfrm>
            <a:off x="2778170" y="1368748"/>
            <a:ext cx="684076" cy="276999"/>
          </a:xfrm>
          <a:prstGeom prst="rect">
            <a:avLst/>
          </a:prstGeom>
          <a:noFill/>
        </p:spPr>
        <p:txBody>
          <a:bodyPr wrap="square" rtlCol="0">
            <a:spAutoFit/>
          </a:bodyPr>
          <a:lstStyle/>
          <a:p>
            <a:r>
              <a:rPr lang="en-US" sz="1200" dirty="0"/>
              <a:t>Rollup</a:t>
            </a:r>
          </a:p>
        </p:txBody>
      </p:sp>
      <p:sp>
        <p:nvSpPr>
          <p:cNvPr id="13" name="TextBox 12"/>
          <p:cNvSpPr txBox="1"/>
          <p:nvPr/>
        </p:nvSpPr>
        <p:spPr>
          <a:xfrm>
            <a:off x="7532363" y="1355615"/>
            <a:ext cx="684076" cy="276999"/>
          </a:xfrm>
          <a:prstGeom prst="rect">
            <a:avLst/>
          </a:prstGeom>
          <a:noFill/>
        </p:spPr>
        <p:txBody>
          <a:bodyPr wrap="square" rtlCol="0">
            <a:spAutoFit/>
          </a:bodyPr>
          <a:lstStyle/>
          <a:p>
            <a:r>
              <a:rPr lang="en-US" sz="1200" dirty="0"/>
              <a:t>Rollup</a:t>
            </a:r>
          </a:p>
        </p:txBody>
      </p:sp>
      <p:pic>
        <p:nvPicPr>
          <p:cNvPr id="14" name="Picture 13"/>
          <p:cNvPicPr>
            <a:picLocks noChangeAspect="1"/>
          </p:cNvPicPr>
          <p:nvPr/>
        </p:nvPicPr>
        <p:blipFill>
          <a:blip r:embed="rId2"/>
          <a:stretch>
            <a:fillRect/>
          </a:stretch>
        </p:blipFill>
        <p:spPr>
          <a:xfrm>
            <a:off x="7599309" y="2388535"/>
            <a:ext cx="4117119" cy="2683364"/>
          </a:xfrm>
          <a:prstGeom prst="rect">
            <a:avLst/>
          </a:prstGeom>
        </p:spPr>
      </p:pic>
      <p:pic>
        <p:nvPicPr>
          <p:cNvPr id="15" name="Picture 14"/>
          <p:cNvPicPr>
            <a:picLocks noChangeAspect="1"/>
          </p:cNvPicPr>
          <p:nvPr/>
        </p:nvPicPr>
        <p:blipFill>
          <a:blip r:embed="rId3"/>
          <a:stretch>
            <a:fillRect/>
          </a:stretch>
        </p:blipFill>
        <p:spPr>
          <a:xfrm>
            <a:off x="3179676" y="2604255"/>
            <a:ext cx="4114800" cy="2178243"/>
          </a:xfrm>
          <a:prstGeom prst="rect">
            <a:avLst/>
          </a:prstGeom>
        </p:spPr>
      </p:pic>
      <p:pic>
        <p:nvPicPr>
          <p:cNvPr id="16" name="Picture 15"/>
          <p:cNvPicPr>
            <a:picLocks noChangeAspect="1"/>
          </p:cNvPicPr>
          <p:nvPr/>
        </p:nvPicPr>
        <p:blipFill>
          <a:blip r:embed="rId4"/>
          <a:stretch>
            <a:fillRect/>
          </a:stretch>
        </p:blipFill>
        <p:spPr>
          <a:xfrm>
            <a:off x="730821" y="2602648"/>
            <a:ext cx="1980220" cy="3633057"/>
          </a:xfrm>
          <a:prstGeom prst="rect">
            <a:avLst/>
          </a:prstGeom>
        </p:spPr>
      </p:pic>
    </p:spTree>
    <p:extLst>
      <p:ext uri="{BB962C8B-B14F-4D97-AF65-F5344CB8AC3E}">
        <p14:creationId xmlns:p14="http://schemas.microsoft.com/office/powerpoint/2010/main" val="322023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4E553-16DB-41ED-AD8B-E8F80362E235}"/>
              </a:ext>
            </a:extLst>
          </p:cNvPr>
          <p:cNvSpPr>
            <a:spLocks noGrp="1"/>
          </p:cNvSpPr>
          <p:nvPr>
            <p:ph type="title"/>
          </p:nvPr>
        </p:nvSpPr>
        <p:spPr/>
        <p:txBody>
          <a:bodyPr/>
          <a:lstStyle/>
          <a:p>
            <a:r>
              <a:rPr lang="en-US" dirty="0"/>
              <a:t>Admin Page</a:t>
            </a:r>
          </a:p>
        </p:txBody>
      </p:sp>
      <p:sp>
        <p:nvSpPr>
          <p:cNvPr id="3" name="Content Placeholder 2">
            <a:extLst>
              <a:ext uri="{FF2B5EF4-FFF2-40B4-BE49-F238E27FC236}">
                <a16:creationId xmlns:a16="http://schemas.microsoft.com/office/drawing/2014/main" id="{BC9A4E3B-5DE9-420F-8E52-D99346118987}"/>
              </a:ext>
            </a:extLst>
          </p:cNvPr>
          <p:cNvSpPr>
            <a:spLocks noGrp="1"/>
          </p:cNvSpPr>
          <p:nvPr>
            <p:ph idx="1"/>
          </p:nvPr>
        </p:nvSpPr>
        <p:spPr>
          <a:xfrm>
            <a:off x="457320" y="1448781"/>
            <a:ext cx="11286635" cy="710964"/>
          </a:xfrm>
        </p:spPr>
        <p:txBody>
          <a:bodyPr/>
          <a:lstStyle/>
          <a:p>
            <a:pPr lvl="0"/>
            <a:endParaRPr lang="en-US" dirty="0"/>
          </a:p>
          <a:p>
            <a:pPr lvl="0"/>
            <a:endParaRPr lang="en-US" dirty="0"/>
          </a:p>
        </p:txBody>
      </p:sp>
      <p:sp>
        <p:nvSpPr>
          <p:cNvPr id="4" name="Footer Placeholder 3">
            <a:extLst>
              <a:ext uri="{FF2B5EF4-FFF2-40B4-BE49-F238E27FC236}">
                <a16:creationId xmlns:a16="http://schemas.microsoft.com/office/drawing/2014/main" id="{4200BA7D-5062-475A-87E2-7067D5CE6F29}"/>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657980E5-DD95-43B5-9063-FC4450993B42}"/>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5</a:t>
            </a:fld>
            <a:endParaRPr lang="en-US" sz="1000" dirty="0">
              <a:solidFill>
                <a:srgbClr val="FFFFFF">
                  <a:lumMod val="50000"/>
                </a:srgbClr>
              </a:solidFill>
            </a:endParaRPr>
          </a:p>
        </p:txBody>
      </p:sp>
      <p:pic>
        <p:nvPicPr>
          <p:cNvPr id="7" name="Picture 6">
            <a:extLst>
              <a:ext uri="{FF2B5EF4-FFF2-40B4-BE49-F238E27FC236}">
                <a16:creationId xmlns:a16="http://schemas.microsoft.com/office/drawing/2014/main" id="{19F6193D-F812-4AFD-A517-BDDDF9ED9596}"/>
              </a:ext>
            </a:extLst>
          </p:cNvPr>
          <p:cNvPicPr>
            <a:picLocks noChangeAspect="1"/>
          </p:cNvPicPr>
          <p:nvPr/>
        </p:nvPicPr>
        <p:blipFill>
          <a:blip r:embed="rId2"/>
          <a:stretch>
            <a:fillRect/>
          </a:stretch>
        </p:blipFill>
        <p:spPr>
          <a:xfrm>
            <a:off x="448045" y="1324927"/>
            <a:ext cx="5413711" cy="2392105"/>
          </a:xfrm>
          <a:prstGeom prst="rect">
            <a:avLst/>
          </a:prstGeom>
        </p:spPr>
      </p:pic>
      <p:pic>
        <p:nvPicPr>
          <p:cNvPr id="8" name="Picture 7">
            <a:extLst>
              <a:ext uri="{FF2B5EF4-FFF2-40B4-BE49-F238E27FC236}">
                <a16:creationId xmlns:a16="http://schemas.microsoft.com/office/drawing/2014/main" id="{BED82515-AFF4-435D-A60F-8DAD52DC5C78}"/>
              </a:ext>
            </a:extLst>
          </p:cNvPr>
          <p:cNvPicPr>
            <a:picLocks noChangeAspect="1"/>
          </p:cNvPicPr>
          <p:nvPr/>
        </p:nvPicPr>
        <p:blipFill>
          <a:blip r:embed="rId3"/>
          <a:stretch>
            <a:fillRect/>
          </a:stretch>
        </p:blipFill>
        <p:spPr>
          <a:xfrm>
            <a:off x="6492044" y="1366808"/>
            <a:ext cx="3824473" cy="1665077"/>
          </a:xfrm>
          <a:prstGeom prst="rect">
            <a:avLst/>
          </a:prstGeom>
        </p:spPr>
      </p:pic>
      <p:pic>
        <p:nvPicPr>
          <p:cNvPr id="9" name="Picture 8">
            <a:extLst>
              <a:ext uri="{FF2B5EF4-FFF2-40B4-BE49-F238E27FC236}">
                <a16:creationId xmlns:a16="http://schemas.microsoft.com/office/drawing/2014/main" id="{762CEF92-978A-43D9-BD81-FE4E81A32DF2}"/>
              </a:ext>
            </a:extLst>
          </p:cNvPr>
          <p:cNvPicPr>
            <a:picLocks noChangeAspect="1"/>
          </p:cNvPicPr>
          <p:nvPr/>
        </p:nvPicPr>
        <p:blipFill>
          <a:blip r:embed="rId4"/>
          <a:stretch>
            <a:fillRect/>
          </a:stretch>
        </p:blipFill>
        <p:spPr>
          <a:xfrm>
            <a:off x="6345881" y="2919490"/>
            <a:ext cx="3970636" cy="2242873"/>
          </a:xfrm>
          <a:prstGeom prst="rect">
            <a:avLst/>
          </a:prstGeom>
        </p:spPr>
      </p:pic>
      <p:pic>
        <p:nvPicPr>
          <p:cNvPr id="10" name="Picture 9">
            <a:extLst>
              <a:ext uri="{FF2B5EF4-FFF2-40B4-BE49-F238E27FC236}">
                <a16:creationId xmlns:a16="http://schemas.microsoft.com/office/drawing/2014/main" id="{67895B1D-94EA-4A61-B235-7290310D8AD2}"/>
              </a:ext>
            </a:extLst>
          </p:cNvPr>
          <p:cNvPicPr>
            <a:picLocks noChangeAspect="1"/>
          </p:cNvPicPr>
          <p:nvPr/>
        </p:nvPicPr>
        <p:blipFill>
          <a:blip r:embed="rId5"/>
          <a:stretch>
            <a:fillRect/>
          </a:stretch>
        </p:blipFill>
        <p:spPr>
          <a:xfrm>
            <a:off x="6371472" y="4751972"/>
            <a:ext cx="3919454" cy="1767700"/>
          </a:xfrm>
          <a:prstGeom prst="rect">
            <a:avLst/>
          </a:prstGeom>
        </p:spPr>
      </p:pic>
    </p:spTree>
    <p:extLst>
      <p:ext uri="{BB962C8B-B14F-4D97-AF65-F5344CB8AC3E}">
        <p14:creationId xmlns:p14="http://schemas.microsoft.com/office/powerpoint/2010/main" val="335906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57CE1-2917-4FC4-BA1E-B8FB1313B725}"/>
              </a:ext>
            </a:extLst>
          </p:cNvPr>
          <p:cNvSpPr>
            <a:spLocks noGrp="1"/>
          </p:cNvSpPr>
          <p:nvPr>
            <p:ph type="title"/>
          </p:nvPr>
        </p:nvSpPr>
        <p:spPr/>
        <p:txBody>
          <a:bodyPr/>
          <a:lstStyle/>
          <a:p>
            <a:r>
              <a:rPr lang="en-US" dirty="0"/>
              <a:t>Data Visualizations </a:t>
            </a:r>
          </a:p>
        </p:txBody>
      </p:sp>
      <p:sp>
        <p:nvSpPr>
          <p:cNvPr id="3" name="Content Placeholder 2">
            <a:extLst>
              <a:ext uri="{FF2B5EF4-FFF2-40B4-BE49-F238E27FC236}">
                <a16:creationId xmlns:a16="http://schemas.microsoft.com/office/drawing/2014/main" id="{BD73A41D-641F-470C-8789-F86654628897}"/>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0C413FD-39BF-454E-B05F-612FB29CDD9E}"/>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80DEFEC9-CB40-49A3-9FB5-04DE4E202D59}"/>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6</a:t>
            </a:fld>
            <a:endParaRPr lang="en-US" sz="1000" dirty="0">
              <a:solidFill>
                <a:srgbClr val="FFFFFF">
                  <a:lumMod val="50000"/>
                </a:srgbClr>
              </a:solidFill>
            </a:endParaRPr>
          </a:p>
        </p:txBody>
      </p:sp>
      <p:pic>
        <p:nvPicPr>
          <p:cNvPr id="7" name="Picture 6">
            <a:extLst>
              <a:ext uri="{FF2B5EF4-FFF2-40B4-BE49-F238E27FC236}">
                <a16:creationId xmlns:a16="http://schemas.microsoft.com/office/drawing/2014/main" id="{3813C791-77C0-42A0-A939-D2ACBF81EB96}"/>
              </a:ext>
            </a:extLst>
          </p:cNvPr>
          <p:cNvPicPr>
            <a:picLocks noChangeAspect="1"/>
          </p:cNvPicPr>
          <p:nvPr/>
        </p:nvPicPr>
        <p:blipFill>
          <a:blip r:embed="rId2"/>
          <a:stretch>
            <a:fillRect/>
          </a:stretch>
        </p:blipFill>
        <p:spPr>
          <a:xfrm>
            <a:off x="371364" y="1382400"/>
            <a:ext cx="5082393" cy="3302741"/>
          </a:xfrm>
          <a:prstGeom prst="rect">
            <a:avLst/>
          </a:prstGeom>
        </p:spPr>
      </p:pic>
      <p:pic>
        <p:nvPicPr>
          <p:cNvPr id="8" name="Picture 7">
            <a:extLst>
              <a:ext uri="{FF2B5EF4-FFF2-40B4-BE49-F238E27FC236}">
                <a16:creationId xmlns:a16="http://schemas.microsoft.com/office/drawing/2014/main" id="{38077597-260F-4D1E-BC72-94242CE23223}"/>
              </a:ext>
            </a:extLst>
          </p:cNvPr>
          <p:cNvPicPr>
            <a:picLocks noChangeAspect="1"/>
          </p:cNvPicPr>
          <p:nvPr/>
        </p:nvPicPr>
        <p:blipFill>
          <a:blip r:embed="rId3"/>
          <a:stretch>
            <a:fillRect/>
          </a:stretch>
        </p:blipFill>
        <p:spPr>
          <a:xfrm>
            <a:off x="5530438" y="2310518"/>
            <a:ext cx="6204242" cy="3765153"/>
          </a:xfrm>
          <a:prstGeom prst="rect">
            <a:avLst/>
          </a:prstGeom>
        </p:spPr>
      </p:pic>
    </p:spTree>
    <p:extLst>
      <p:ext uri="{BB962C8B-B14F-4D97-AF65-F5344CB8AC3E}">
        <p14:creationId xmlns:p14="http://schemas.microsoft.com/office/powerpoint/2010/main" val="145670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4E553-16DB-41ED-AD8B-E8F80362E235}"/>
              </a:ext>
            </a:extLst>
          </p:cNvPr>
          <p:cNvSpPr>
            <a:spLocks noGrp="1"/>
          </p:cNvSpPr>
          <p:nvPr>
            <p:ph type="title"/>
          </p:nvPr>
        </p:nvSpPr>
        <p:spPr/>
        <p:txBody>
          <a:bodyPr/>
          <a:lstStyle/>
          <a:p>
            <a:r>
              <a:rPr lang="en-US" dirty="0"/>
              <a:t>Product Level Details</a:t>
            </a:r>
          </a:p>
        </p:txBody>
      </p:sp>
      <p:sp>
        <p:nvSpPr>
          <p:cNvPr id="3" name="Content Placeholder 2">
            <a:extLst>
              <a:ext uri="{FF2B5EF4-FFF2-40B4-BE49-F238E27FC236}">
                <a16:creationId xmlns:a16="http://schemas.microsoft.com/office/drawing/2014/main" id="{BC9A4E3B-5DE9-420F-8E52-D99346118987}"/>
              </a:ext>
            </a:extLst>
          </p:cNvPr>
          <p:cNvSpPr>
            <a:spLocks noGrp="1"/>
          </p:cNvSpPr>
          <p:nvPr>
            <p:ph idx="1"/>
          </p:nvPr>
        </p:nvSpPr>
        <p:spPr>
          <a:xfrm>
            <a:off x="457320" y="1448781"/>
            <a:ext cx="11286635" cy="4976747"/>
          </a:xfrm>
        </p:spPr>
        <p:txBody>
          <a:bodyPr/>
          <a:lstStyle/>
          <a:p>
            <a:r>
              <a:rPr lang="en-US" dirty="0"/>
              <a:t>Key KPIs: </a:t>
            </a:r>
          </a:p>
          <a:p>
            <a:r>
              <a:rPr lang="en-US" dirty="0"/>
              <a:t>Code Coverage, Test Automation, #Features (planned/completed), #User Stories, Uptime, MTTR</a:t>
            </a:r>
          </a:p>
          <a:p>
            <a:endParaRPr lang="en-US" dirty="0"/>
          </a:p>
          <a:p>
            <a:r>
              <a:rPr lang="en-US" dirty="0"/>
              <a:t>Some KPIs are Automation, others are manual entry.</a:t>
            </a:r>
          </a:p>
          <a:p>
            <a:r>
              <a:rPr lang="en-US" dirty="0"/>
              <a:t>E.g., Code Coverage from </a:t>
            </a:r>
            <a:r>
              <a:rPr lang="en-US" dirty="0" err="1">
                <a:solidFill>
                  <a:schemeClr val="tx2">
                    <a:lumMod val="60000"/>
                    <a:lumOff val="40000"/>
                  </a:schemeClr>
                </a:solidFill>
              </a:rPr>
              <a:t>Sonarqube</a:t>
            </a:r>
            <a:r>
              <a:rPr lang="en-US" dirty="0"/>
              <a:t>,</a:t>
            </a:r>
          </a:p>
          <a:p>
            <a:r>
              <a:rPr lang="en-US" dirty="0"/>
              <a:t>Features (planned/completed), #User Stories, from </a:t>
            </a:r>
            <a:r>
              <a:rPr lang="en-US" dirty="0">
                <a:solidFill>
                  <a:schemeClr val="tx2">
                    <a:lumMod val="60000"/>
                    <a:lumOff val="40000"/>
                  </a:schemeClr>
                </a:solidFill>
              </a:rPr>
              <a:t>JIRA</a:t>
            </a:r>
          </a:p>
          <a:p>
            <a:r>
              <a:rPr lang="en-US" dirty="0"/>
              <a:t>Test Automation </a:t>
            </a:r>
            <a:r>
              <a:rPr lang="en-US" dirty="0">
                <a:solidFill>
                  <a:schemeClr val="tx2">
                    <a:lumMod val="60000"/>
                    <a:lumOff val="40000"/>
                  </a:schemeClr>
                </a:solidFill>
              </a:rPr>
              <a:t>- Manual Entry</a:t>
            </a:r>
          </a:p>
          <a:p>
            <a:endParaRPr lang="en-US" dirty="0">
              <a:solidFill>
                <a:schemeClr val="tx2">
                  <a:lumMod val="60000"/>
                  <a:lumOff val="40000"/>
                </a:schemeClr>
              </a:solidFill>
            </a:endParaRPr>
          </a:p>
          <a:p>
            <a:r>
              <a:rPr lang="en-US" dirty="0">
                <a:solidFill>
                  <a:schemeClr val="tx1"/>
                </a:solidFill>
              </a:rPr>
              <a:t>In this phase we are going to focus only on JIRA automation to the dashboard</a:t>
            </a:r>
          </a:p>
          <a:p>
            <a:r>
              <a:rPr lang="en-US" dirty="0"/>
              <a:t>As part of this contest, developed solution should interface with an existing JIRA instance (Jira URL &amp; token for access would be provided) to pull the Jira related metrics</a:t>
            </a:r>
          </a:p>
          <a:p>
            <a:pPr marL="0" indent="0">
              <a:buNone/>
            </a:pPr>
            <a:endParaRPr lang="en-US" dirty="0">
              <a:solidFill>
                <a:schemeClr val="tx1"/>
              </a:solidFill>
            </a:endParaRPr>
          </a:p>
        </p:txBody>
      </p:sp>
      <p:sp>
        <p:nvSpPr>
          <p:cNvPr id="4" name="Footer Placeholder 3">
            <a:extLst>
              <a:ext uri="{FF2B5EF4-FFF2-40B4-BE49-F238E27FC236}">
                <a16:creationId xmlns:a16="http://schemas.microsoft.com/office/drawing/2014/main" id="{4200BA7D-5062-475A-87E2-7067D5CE6F29}"/>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657980E5-DD95-43B5-9063-FC4450993B42}"/>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7</a:t>
            </a:fld>
            <a:endParaRPr lang="en-US" sz="1000" dirty="0">
              <a:solidFill>
                <a:srgbClr val="FFFFFF">
                  <a:lumMod val="50000"/>
                </a:srgbClr>
              </a:solidFill>
            </a:endParaRPr>
          </a:p>
        </p:txBody>
      </p:sp>
    </p:spTree>
    <p:extLst>
      <p:ext uri="{BB962C8B-B14F-4D97-AF65-F5344CB8AC3E}">
        <p14:creationId xmlns:p14="http://schemas.microsoft.com/office/powerpoint/2010/main" val="3703992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4E553-16DB-41ED-AD8B-E8F80362E235}"/>
              </a:ext>
            </a:extLst>
          </p:cNvPr>
          <p:cNvSpPr>
            <a:spLocks noGrp="1"/>
          </p:cNvSpPr>
          <p:nvPr>
            <p:ph type="title"/>
          </p:nvPr>
        </p:nvSpPr>
        <p:spPr/>
        <p:txBody>
          <a:bodyPr/>
          <a:lstStyle/>
          <a:p>
            <a:r>
              <a:rPr lang="en-US" dirty="0"/>
              <a:t>Technology Stack</a:t>
            </a:r>
          </a:p>
        </p:txBody>
      </p:sp>
      <p:sp>
        <p:nvSpPr>
          <p:cNvPr id="3" name="Content Placeholder 2">
            <a:extLst>
              <a:ext uri="{FF2B5EF4-FFF2-40B4-BE49-F238E27FC236}">
                <a16:creationId xmlns:a16="http://schemas.microsoft.com/office/drawing/2014/main" id="{BC9A4E3B-5DE9-420F-8E52-D99346118987}"/>
              </a:ext>
            </a:extLst>
          </p:cNvPr>
          <p:cNvSpPr>
            <a:spLocks noGrp="1"/>
          </p:cNvSpPr>
          <p:nvPr>
            <p:ph idx="1"/>
          </p:nvPr>
        </p:nvSpPr>
        <p:spPr>
          <a:xfrm>
            <a:off x="457320" y="1448781"/>
            <a:ext cx="11286635" cy="1828193"/>
          </a:xfrm>
        </p:spPr>
        <p:txBody>
          <a:bodyPr/>
          <a:lstStyle/>
          <a:p>
            <a:pPr lvl="0"/>
            <a:r>
              <a:rPr lang="en-US" dirty="0"/>
              <a:t>Any RDBMS, </a:t>
            </a:r>
          </a:p>
          <a:p>
            <a:pPr lvl="0"/>
            <a:r>
              <a:rPr lang="en-US" dirty="0"/>
              <a:t>UI: Any Boeing approved software/tool/package.</a:t>
            </a:r>
          </a:p>
          <a:p>
            <a:pPr lvl="0"/>
            <a:r>
              <a:rPr lang="en-US" dirty="0"/>
              <a:t>Rest API.</a:t>
            </a:r>
          </a:p>
          <a:p>
            <a:pPr lvl="0"/>
            <a:r>
              <a:rPr lang="en-US" dirty="0"/>
              <a:t>Any Boeing approved software for visualizations (includes Boeing approved open source tools) </a:t>
            </a:r>
          </a:p>
        </p:txBody>
      </p:sp>
      <p:sp>
        <p:nvSpPr>
          <p:cNvPr id="4" name="Footer Placeholder 3">
            <a:extLst>
              <a:ext uri="{FF2B5EF4-FFF2-40B4-BE49-F238E27FC236}">
                <a16:creationId xmlns:a16="http://schemas.microsoft.com/office/drawing/2014/main" id="{4200BA7D-5062-475A-87E2-7067D5CE6F29}"/>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657980E5-DD95-43B5-9063-FC4450993B42}"/>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8</a:t>
            </a:fld>
            <a:endParaRPr lang="en-US" sz="1000" dirty="0">
              <a:solidFill>
                <a:srgbClr val="FFFFFF">
                  <a:lumMod val="50000"/>
                </a:srgbClr>
              </a:solidFill>
            </a:endParaRPr>
          </a:p>
        </p:txBody>
      </p:sp>
    </p:spTree>
    <p:extLst>
      <p:ext uri="{BB962C8B-B14F-4D97-AF65-F5344CB8AC3E}">
        <p14:creationId xmlns:p14="http://schemas.microsoft.com/office/powerpoint/2010/main" val="1652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41EB5-05E8-43DA-80F7-8FEDD1DBD3C8}"/>
              </a:ext>
            </a:extLst>
          </p:cNvPr>
          <p:cNvSpPr>
            <a:spLocks noGrp="1"/>
          </p:cNvSpPr>
          <p:nvPr>
            <p:ph type="title"/>
          </p:nvPr>
        </p:nvSpPr>
        <p:spPr/>
        <p:txBody>
          <a:bodyPr/>
          <a:lstStyle/>
          <a:p>
            <a:r>
              <a:rPr lang="en-US" dirty="0"/>
              <a:t>High Level Architecture </a:t>
            </a:r>
          </a:p>
        </p:txBody>
      </p:sp>
      <p:sp>
        <p:nvSpPr>
          <p:cNvPr id="4" name="Footer Placeholder 3">
            <a:extLst>
              <a:ext uri="{FF2B5EF4-FFF2-40B4-BE49-F238E27FC236}">
                <a16:creationId xmlns:a16="http://schemas.microsoft.com/office/drawing/2014/main" id="{0452EE56-9C02-4531-B866-277F113D5E26}"/>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CA70B4E3-2DD6-4AE9-B5FE-F9A2D8E4D253}"/>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9</a:t>
            </a:fld>
            <a:endParaRPr lang="en-US" sz="1000" dirty="0">
              <a:solidFill>
                <a:srgbClr val="FFFFFF">
                  <a:lumMod val="50000"/>
                </a:srgbClr>
              </a:solidFill>
            </a:endParaRPr>
          </a:p>
        </p:txBody>
      </p:sp>
      <p:pic>
        <p:nvPicPr>
          <p:cNvPr id="2050" name="Picture 2" descr="Jira | Issue &amp; Project Tracking Software | Atlassian">
            <a:extLst>
              <a:ext uri="{FF2B5EF4-FFF2-40B4-BE49-F238E27FC236}">
                <a16:creationId xmlns:a16="http://schemas.microsoft.com/office/drawing/2014/main" id="{0B26BF13-B2BE-4B72-AAE6-E4809674C38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388" y="1556792"/>
            <a:ext cx="1594943" cy="5343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84C1CE9-C360-4E21-81A4-143A2A0F7A6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4134" t="6951" r="6294" b="35299"/>
          <a:stretch/>
        </p:blipFill>
        <p:spPr>
          <a:xfrm>
            <a:off x="5994415" y="3801665"/>
            <a:ext cx="1403501" cy="1152128"/>
          </a:xfrm>
          <a:prstGeom prst="rect">
            <a:avLst/>
          </a:prstGeom>
        </p:spPr>
      </p:pic>
      <p:pic>
        <p:nvPicPr>
          <p:cNvPr id="2052" name="Picture 4" descr="Outline user interface icon isolated black simple Vector Image">
            <a:extLst>
              <a:ext uri="{FF2B5EF4-FFF2-40B4-BE49-F238E27FC236}">
                <a16:creationId xmlns:a16="http://schemas.microsoft.com/office/drawing/2014/main" id="{613EDEC0-30F4-46CA-B49F-98C76D7423E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250" t="8112" b="15641"/>
          <a:stretch/>
        </p:blipFill>
        <p:spPr bwMode="auto">
          <a:xfrm>
            <a:off x="8020921" y="4996412"/>
            <a:ext cx="1830358" cy="15888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pi - Free computer icons">
            <a:extLst>
              <a:ext uri="{FF2B5EF4-FFF2-40B4-BE49-F238E27FC236}">
                <a16:creationId xmlns:a16="http://schemas.microsoft.com/office/drawing/2014/main" id="{D129D856-FCAF-4143-816D-EFD2769C88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6091" y="2537033"/>
            <a:ext cx="1476164" cy="147616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B20F0D1-4B8A-44ED-8089-01C307B8137A}"/>
              </a:ext>
            </a:extLst>
          </p:cNvPr>
          <p:cNvSpPr txBox="1"/>
          <p:nvPr/>
        </p:nvSpPr>
        <p:spPr>
          <a:xfrm>
            <a:off x="731404" y="2457209"/>
            <a:ext cx="1778027" cy="369332"/>
          </a:xfrm>
          <a:prstGeom prst="rect">
            <a:avLst/>
          </a:prstGeom>
          <a:noFill/>
        </p:spPr>
        <p:txBody>
          <a:bodyPr wrap="square" rtlCol="0">
            <a:spAutoFit/>
          </a:bodyPr>
          <a:lstStyle/>
          <a:p>
            <a:r>
              <a:rPr lang="en-US" dirty="0"/>
              <a:t>Data Available</a:t>
            </a:r>
          </a:p>
        </p:txBody>
      </p:sp>
      <p:sp>
        <p:nvSpPr>
          <p:cNvPr id="11" name="Arrow: Bent-Up 10">
            <a:extLst>
              <a:ext uri="{FF2B5EF4-FFF2-40B4-BE49-F238E27FC236}">
                <a16:creationId xmlns:a16="http://schemas.microsoft.com/office/drawing/2014/main" id="{517EA7CB-62D8-4A22-87B4-B73BDF120DFD}"/>
              </a:ext>
            </a:extLst>
          </p:cNvPr>
          <p:cNvSpPr/>
          <p:nvPr/>
        </p:nvSpPr>
        <p:spPr>
          <a:xfrm rot="10800000" flipH="1">
            <a:off x="2509432" y="1823986"/>
            <a:ext cx="1358788" cy="786416"/>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15" name="TextBox 14">
            <a:extLst>
              <a:ext uri="{FF2B5EF4-FFF2-40B4-BE49-F238E27FC236}">
                <a16:creationId xmlns:a16="http://schemas.microsoft.com/office/drawing/2014/main" id="{C8DFE09D-246F-4F1C-B4B3-9947D6D68629}"/>
              </a:ext>
            </a:extLst>
          </p:cNvPr>
          <p:cNvSpPr txBox="1"/>
          <p:nvPr/>
        </p:nvSpPr>
        <p:spPr>
          <a:xfrm>
            <a:off x="3176491" y="4218206"/>
            <a:ext cx="2163425" cy="415498"/>
          </a:xfrm>
          <a:prstGeom prst="rect">
            <a:avLst/>
          </a:prstGeom>
          <a:noFill/>
        </p:spPr>
        <p:txBody>
          <a:bodyPr wrap="square" rtlCol="0">
            <a:spAutoFit/>
          </a:bodyPr>
          <a:lstStyle/>
          <a:p>
            <a:r>
              <a:rPr lang="en-US" sz="1050" dirty="0"/>
              <a:t>URL and Authentication Token Fetch Data from Jira</a:t>
            </a:r>
          </a:p>
        </p:txBody>
      </p:sp>
      <p:sp>
        <p:nvSpPr>
          <p:cNvPr id="17" name="TextBox 16">
            <a:extLst>
              <a:ext uri="{FF2B5EF4-FFF2-40B4-BE49-F238E27FC236}">
                <a16:creationId xmlns:a16="http://schemas.microsoft.com/office/drawing/2014/main" id="{AA83FC99-C1B0-409F-9DDE-2A83BF21E8A8}"/>
              </a:ext>
            </a:extLst>
          </p:cNvPr>
          <p:cNvSpPr txBox="1"/>
          <p:nvPr/>
        </p:nvSpPr>
        <p:spPr>
          <a:xfrm>
            <a:off x="5899411" y="5009831"/>
            <a:ext cx="2163425" cy="261610"/>
          </a:xfrm>
          <a:prstGeom prst="rect">
            <a:avLst/>
          </a:prstGeom>
          <a:noFill/>
        </p:spPr>
        <p:txBody>
          <a:bodyPr wrap="square" rtlCol="0">
            <a:spAutoFit/>
          </a:bodyPr>
          <a:lstStyle/>
          <a:p>
            <a:r>
              <a:rPr lang="en-US" sz="1050" dirty="0"/>
              <a:t>Application Level Database</a:t>
            </a:r>
            <a:endParaRPr lang="en-US" sz="600" dirty="0"/>
          </a:p>
        </p:txBody>
      </p:sp>
      <p:sp>
        <p:nvSpPr>
          <p:cNvPr id="19" name="Arrow: Bent-Up 18">
            <a:extLst>
              <a:ext uri="{FF2B5EF4-FFF2-40B4-BE49-F238E27FC236}">
                <a16:creationId xmlns:a16="http://schemas.microsoft.com/office/drawing/2014/main" id="{212B09B5-2D61-48FB-9A1B-5850F6CAB529}"/>
              </a:ext>
            </a:extLst>
          </p:cNvPr>
          <p:cNvSpPr/>
          <p:nvPr/>
        </p:nvSpPr>
        <p:spPr>
          <a:xfrm rot="10800000" flipH="1">
            <a:off x="5043586" y="3010563"/>
            <a:ext cx="1358788" cy="786416"/>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20" name="Arrow: Bent-Up 19">
            <a:extLst>
              <a:ext uri="{FF2B5EF4-FFF2-40B4-BE49-F238E27FC236}">
                <a16:creationId xmlns:a16="http://schemas.microsoft.com/office/drawing/2014/main" id="{8BD68DCC-7280-46AD-8261-5C04C0935113}"/>
              </a:ext>
            </a:extLst>
          </p:cNvPr>
          <p:cNvSpPr/>
          <p:nvPr/>
        </p:nvSpPr>
        <p:spPr>
          <a:xfrm rot="10800000" flipH="1">
            <a:off x="7630578" y="4101238"/>
            <a:ext cx="1358788" cy="786416"/>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
        <p:nvSpPr>
          <p:cNvPr id="21" name="TextBox 20">
            <a:extLst>
              <a:ext uri="{FF2B5EF4-FFF2-40B4-BE49-F238E27FC236}">
                <a16:creationId xmlns:a16="http://schemas.microsoft.com/office/drawing/2014/main" id="{5CDA31C6-6353-4B46-A399-A0890D2C88F0}"/>
              </a:ext>
            </a:extLst>
          </p:cNvPr>
          <p:cNvSpPr txBox="1"/>
          <p:nvPr/>
        </p:nvSpPr>
        <p:spPr>
          <a:xfrm>
            <a:off x="9505035" y="5542529"/>
            <a:ext cx="2163425" cy="430887"/>
          </a:xfrm>
          <a:prstGeom prst="rect">
            <a:avLst/>
          </a:prstGeom>
          <a:noFill/>
        </p:spPr>
        <p:txBody>
          <a:bodyPr wrap="square" rtlCol="0">
            <a:spAutoFit/>
          </a:bodyPr>
          <a:lstStyle/>
          <a:p>
            <a:r>
              <a:rPr lang="en-US" sz="1050" dirty="0"/>
              <a:t>(UI should Allow to View, Edit and Change Data</a:t>
            </a:r>
            <a:endParaRPr lang="en-US" sz="100" dirty="0"/>
          </a:p>
        </p:txBody>
      </p:sp>
      <p:sp>
        <p:nvSpPr>
          <p:cNvPr id="23" name="Arrow: Bent-Up 22">
            <a:extLst>
              <a:ext uri="{FF2B5EF4-FFF2-40B4-BE49-F238E27FC236}">
                <a16:creationId xmlns:a16="http://schemas.microsoft.com/office/drawing/2014/main" id="{E4E979CC-A610-4906-B518-2CEA053711CF}"/>
              </a:ext>
            </a:extLst>
          </p:cNvPr>
          <p:cNvSpPr/>
          <p:nvPr/>
        </p:nvSpPr>
        <p:spPr>
          <a:xfrm flipH="1">
            <a:off x="6696165" y="5493288"/>
            <a:ext cx="1358788" cy="786416"/>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000" b="1" kern="0" dirty="0">
              <a:solidFill>
                <a:prstClr val="white"/>
              </a:solidFill>
              <a:latin typeface="+mn-lt"/>
            </a:endParaRPr>
          </a:p>
        </p:txBody>
      </p:sp>
    </p:spTree>
    <p:extLst>
      <p:ext uri="{BB962C8B-B14F-4D97-AF65-F5344CB8AC3E}">
        <p14:creationId xmlns:p14="http://schemas.microsoft.com/office/powerpoint/2010/main" val="11497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BA04-8DFE-48A6-9CE6-3484EE033DF6}"/>
              </a:ext>
            </a:extLst>
          </p:cNvPr>
          <p:cNvSpPr>
            <a:spLocks noGrp="1"/>
          </p:cNvSpPr>
          <p:nvPr>
            <p:ph type="title"/>
          </p:nvPr>
        </p:nvSpPr>
        <p:spPr/>
        <p:txBody>
          <a:bodyPr/>
          <a:lstStyle/>
          <a:p>
            <a:r>
              <a:rPr lang="en-US" dirty="0"/>
              <a:t>Jira Access</a:t>
            </a:r>
          </a:p>
        </p:txBody>
      </p:sp>
      <p:sp>
        <p:nvSpPr>
          <p:cNvPr id="3" name="Content Placeholder 2">
            <a:extLst>
              <a:ext uri="{FF2B5EF4-FFF2-40B4-BE49-F238E27FC236}">
                <a16:creationId xmlns:a16="http://schemas.microsoft.com/office/drawing/2014/main" id="{D9B0D330-C4AB-4713-A214-CB321DA4C331}"/>
              </a:ext>
            </a:extLst>
          </p:cNvPr>
          <p:cNvSpPr>
            <a:spLocks noGrp="1"/>
          </p:cNvSpPr>
          <p:nvPr>
            <p:ph idx="1"/>
          </p:nvPr>
        </p:nvSpPr>
        <p:spPr>
          <a:xfrm>
            <a:off x="457320" y="1448781"/>
            <a:ext cx="11286635" cy="2631490"/>
          </a:xfrm>
        </p:spPr>
        <p:txBody>
          <a:bodyPr/>
          <a:lstStyle/>
          <a:p>
            <a:r>
              <a:rPr lang="en-US" b="1" dirty="0"/>
              <a:t>URL</a:t>
            </a:r>
            <a:r>
              <a:rPr lang="en-US" dirty="0"/>
              <a:t>: </a:t>
            </a:r>
          </a:p>
          <a:p>
            <a:r>
              <a:rPr lang="en-US" sz="2000" u="sng" dirty="0">
                <a:solidFill>
                  <a:schemeClr val="accent1">
                    <a:lumMod val="60000"/>
                    <a:lumOff val="40000"/>
                  </a:schemeClr>
                </a:solidFill>
                <a:hlinkClick r:id="rId2"/>
              </a:rPr>
              <a:t>https://test.dat.jeppesen.com/jiradev/rest/api/2/search?jql=project=IDDS&amp;maxResults=2000</a:t>
            </a:r>
            <a:endParaRPr lang="en-US" sz="2000" u="sng" dirty="0">
              <a:solidFill>
                <a:schemeClr val="accent1">
                  <a:lumMod val="60000"/>
                  <a:lumOff val="40000"/>
                </a:schemeClr>
              </a:solidFill>
            </a:endParaRPr>
          </a:p>
          <a:p>
            <a:r>
              <a:rPr lang="en-US" sz="2000" u="sng" dirty="0">
                <a:solidFill>
                  <a:schemeClr val="accent1">
                    <a:lumMod val="60000"/>
                    <a:lumOff val="40000"/>
                  </a:schemeClr>
                </a:solidFill>
                <a:hlinkClick r:id="rId3"/>
              </a:rPr>
              <a:t>https://test.dat.jeppesen.com/jiradev/rest/api/2/search?jql=project=FPX&amp;maxResults=2000</a:t>
            </a:r>
            <a:endParaRPr lang="en-US" sz="2000" u="sng" dirty="0">
              <a:solidFill>
                <a:schemeClr val="accent1">
                  <a:lumMod val="60000"/>
                  <a:lumOff val="40000"/>
                </a:schemeClr>
              </a:solidFill>
            </a:endParaRPr>
          </a:p>
          <a:p>
            <a:r>
              <a:rPr lang="en-US" b="1" dirty="0"/>
              <a:t>Token</a:t>
            </a:r>
            <a:r>
              <a:rPr lang="en-US" dirty="0"/>
              <a:t>: ODU4NDAyNzgwODcwOpDJ8Xo2Mof9wcMrsbf+mp2gn+X0</a:t>
            </a:r>
          </a:p>
          <a:p>
            <a:endParaRPr lang="en-US" dirty="0"/>
          </a:p>
          <a:p>
            <a:r>
              <a:rPr lang="en-US" dirty="0"/>
              <a:t>Program Increment: PI creation to be done in Admin Page</a:t>
            </a:r>
          </a:p>
          <a:p>
            <a:pPr lvl="8"/>
            <a:r>
              <a:rPr lang="en-US" sz="2000" dirty="0"/>
              <a:t>Each PI has 3 Sprints</a:t>
            </a:r>
          </a:p>
        </p:txBody>
      </p:sp>
      <p:sp>
        <p:nvSpPr>
          <p:cNvPr id="4" name="Footer Placeholder 3">
            <a:extLst>
              <a:ext uri="{FF2B5EF4-FFF2-40B4-BE49-F238E27FC236}">
                <a16:creationId xmlns:a16="http://schemas.microsoft.com/office/drawing/2014/main" id="{EDD2F077-6386-48A4-B153-4C61F4196A13}"/>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B968D41E-BD05-45B8-8581-66C2A2ED2127}"/>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10</a:t>
            </a:fld>
            <a:endParaRPr lang="en-US" sz="1000" dirty="0">
              <a:solidFill>
                <a:srgbClr val="FFFFFF">
                  <a:lumMod val="50000"/>
                </a:srgbClr>
              </a:solidFill>
            </a:endParaRPr>
          </a:p>
        </p:txBody>
      </p:sp>
    </p:spTree>
    <p:extLst>
      <p:ext uri="{BB962C8B-B14F-4D97-AF65-F5344CB8AC3E}">
        <p14:creationId xmlns:p14="http://schemas.microsoft.com/office/powerpoint/2010/main" val="89706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BA04-8DFE-48A6-9CE6-3484EE033DF6}"/>
              </a:ext>
            </a:extLst>
          </p:cNvPr>
          <p:cNvSpPr>
            <a:spLocks noGrp="1"/>
          </p:cNvSpPr>
          <p:nvPr>
            <p:ph type="title"/>
          </p:nvPr>
        </p:nvSpPr>
        <p:spPr/>
        <p:txBody>
          <a:bodyPr/>
          <a:lstStyle/>
          <a:p>
            <a:r>
              <a:rPr lang="en-US" dirty="0"/>
              <a:t>Detailed view of Problem Statement</a:t>
            </a:r>
          </a:p>
        </p:txBody>
      </p:sp>
      <p:sp>
        <p:nvSpPr>
          <p:cNvPr id="4" name="Footer Placeholder 3">
            <a:extLst>
              <a:ext uri="{FF2B5EF4-FFF2-40B4-BE49-F238E27FC236}">
                <a16:creationId xmlns:a16="http://schemas.microsoft.com/office/drawing/2014/main" id="{EDD2F077-6386-48A4-B153-4C61F4196A13}"/>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B968D41E-BD05-45B8-8581-66C2A2ED2127}"/>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11</a:t>
            </a:fld>
            <a:endParaRPr lang="en-US" sz="1000" dirty="0">
              <a:solidFill>
                <a:srgbClr val="FFFFFF">
                  <a:lumMod val="50000"/>
                </a:srgbClr>
              </a:solidFill>
            </a:endParaRPr>
          </a:p>
        </p:txBody>
      </p:sp>
      <p:graphicFrame>
        <p:nvGraphicFramePr>
          <p:cNvPr id="10" name="Object 9">
            <a:extLst>
              <a:ext uri="{FF2B5EF4-FFF2-40B4-BE49-F238E27FC236}">
                <a16:creationId xmlns:a16="http://schemas.microsoft.com/office/drawing/2014/main" id="{8D00556B-A449-41FE-8254-9AAB2C2E5012}"/>
              </a:ext>
            </a:extLst>
          </p:cNvPr>
          <p:cNvGraphicFramePr>
            <a:graphicFrameLocks noChangeAspect="1"/>
          </p:cNvGraphicFramePr>
          <p:nvPr>
            <p:extLst/>
          </p:nvPr>
        </p:nvGraphicFramePr>
        <p:xfrm>
          <a:off x="447675" y="852488"/>
          <a:ext cx="10953750" cy="6664325"/>
        </p:xfrm>
        <a:graphic>
          <a:graphicData uri="http://schemas.openxmlformats.org/presentationml/2006/ole">
            <mc:AlternateContent xmlns:mc="http://schemas.openxmlformats.org/markup-compatibility/2006">
              <mc:Choice xmlns:v="urn:schemas-microsoft-com:vml" Requires="v">
                <p:oleObj spid="_x0000_s3074" name="Worksheet" r:id="rId3" imgW="11582258" imgH="5493894" progId="Excel.Sheet.12">
                  <p:embed/>
                </p:oleObj>
              </mc:Choice>
              <mc:Fallback>
                <p:oleObj name="Worksheet" r:id="rId3" imgW="11582258" imgH="5493894" progId="Excel.Sheet.12">
                  <p:embed/>
                  <p:pic>
                    <p:nvPicPr>
                      <p:cNvPr id="10" name="Object 9">
                        <a:extLst>
                          <a:ext uri="{FF2B5EF4-FFF2-40B4-BE49-F238E27FC236}">
                            <a16:creationId xmlns:a16="http://schemas.microsoft.com/office/drawing/2014/main" id="{8D00556B-A449-41FE-8254-9AAB2C2E5012}"/>
                          </a:ext>
                        </a:extLst>
                      </p:cNvPr>
                      <p:cNvPicPr/>
                      <p:nvPr/>
                    </p:nvPicPr>
                    <p:blipFill>
                      <a:blip r:embed="rId4"/>
                      <a:stretch>
                        <a:fillRect/>
                      </a:stretch>
                    </p:blipFill>
                    <p:spPr>
                      <a:xfrm>
                        <a:off x="447675" y="852488"/>
                        <a:ext cx="10953750" cy="6664325"/>
                      </a:xfrm>
                      <a:prstGeom prst="rect">
                        <a:avLst/>
                      </a:prstGeom>
                    </p:spPr>
                  </p:pic>
                </p:oleObj>
              </mc:Fallback>
            </mc:AlternateContent>
          </a:graphicData>
        </a:graphic>
      </p:graphicFrame>
    </p:spTree>
    <p:extLst>
      <p:ext uri="{BB962C8B-B14F-4D97-AF65-F5344CB8AC3E}">
        <p14:creationId xmlns:p14="http://schemas.microsoft.com/office/powerpoint/2010/main" val="107760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BDC9-827D-422A-926D-1B775CBEA978}"/>
              </a:ext>
            </a:extLst>
          </p:cNvPr>
          <p:cNvSpPr>
            <a:spLocks noGrp="1"/>
          </p:cNvSpPr>
          <p:nvPr>
            <p:ph type="title"/>
          </p:nvPr>
        </p:nvSpPr>
        <p:spPr>
          <a:xfrm>
            <a:off x="457319" y="302817"/>
            <a:ext cx="11286635" cy="534388"/>
          </a:xfrm>
        </p:spPr>
        <p:txBody>
          <a:bodyPr/>
          <a:lstStyle/>
          <a:p>
            <a:r>
              <a:rPr lang="en-US" dirty="0"/>
              <a:t>Key Points </a:t>
            </a:r>
          </a:p>
        </p:txBody>
      </p:sp>
      <p:sp>
        <p:nvSpPr>
          <p:cNvPr id="3" name="Content Placeholder 2">
            <a:extLst>
              <a:ext uri="{FF2B5EF4-FFF2-40B4-BE49-F238E27FC236}">
                <a16:creationId xmlns:a16="http://schemas.microsoft.com/office/drawing/2014/main" id="{8FB5E79B-AE0A-477C-A5C4-6BD4D825F136}"/>
              </a:ext>
            </a:extLst>
          </p:cNvPr>
          <p:cNvSpPr>
            <a:spLocks noGrp="1"/>
          </p:cNvSpPr>
          <p:nvPr>
            <p:ph idx="1"/>
          </p:nvPr>
        </p:nvSpPr>
        <p:spPr>
          <a:xfrm>
            <a:off x="457320" y="1484292"/>
            <a:ext cx="11286635" cy="3628686"/>
          </a:xfrm>
        </p:spPr>
        <p:txBody>
          <a:bodyPr/>
          <a:lstStyle/>
          <a:p>
            <a:pPr marL="0" indent="0">
              <a:buNone/>
            </a:pPr>
            <a:r>
              <a:rPr lang="en-US" sz="1800" dirty="0"/>
              <a:t>1. Mapping columns from JIRA to UI should be Configurable against Product, because column name /</a:t>
            </a:r>
            <a:r>
              <a:rPr lang="en-US" sz="1800" dirty="0" err="1"/>
              <a:t>column_id</a:t>
            </a:r>
            <a:r>
              <a:rPr lang="en-US" sz="1800" dirty="0"/>
              <a:t> might vary for different environment </a:t>
            </a:r>
          </a:p>
          <a:p>
            <a:pPr marL="0" indent="0">
              <a:buNone/>
            </a:pPr>
            <a:r>
              <a:rPr lang="en-US" sz="1800" dirty="0"/>
              <a:t>	Example : customfield_10801 is mapped to Stories Planned in Test Instance. In Production it may be customfield_10051</a:t>
            </a:r>
          </a:p>
          <a:p>
            <a:pPr marL="0" indent="0">
              <a:buNone/>
            </a:pPr>
            <a:endParaRPr lang="en-US" sz="1800" dirty="0"/>
          </a:p>
          <a:p>
            <a:pPr marL="0" indent="0">
              <a:buNone/>
            </a:pPr>
            <a:r>
              <a:rPr lang="en-US" sz="1800" dirty="0"/>
              <a:t>2. Similarly keep all other necessary items configurable </a:t>
            </a:r>
          </a:p>
          <a:p>
            <a:pPr marL="0" indent="0">
              <a:buNone/>
            </a:pPr>
            <a:endParaRPr lang="en-US" sz="1800" dirty="0"/>
          </a:p>
          <a:p>
            <a:pPr marL="0" indent="0">
              <a:buNone/>
            </a:pPr>
            <a:r>
              <a:rPr lang="en-US" sz="1800" dirty="0"/>
              <a:t>3.Perform only Get operations using the API URL.</a:t>
            </a:r>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62ED549A-151B-458C-BA64-82341FD8BFBF}"/>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4AD9905B-44F6-4C45-B23C-7DF60BAA60F3}"/>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12</a:t>
            </a:fld>
            <a:endParaRPr lang="en-US" sz="1000" dirty="0">
              <a:solidFill>
                <a:srgbClr val="FFFFFF">
                  <a:lumMod val="50000"/>
                </a:srgbClr>
              </a:solidFill>
            </a:endParaRPr>
          </a:p>
        </p:txBody>
      </p:sp>
    </p:spTree>
    <p:extLst>
      <p:ext uri="{BB962C8B-B14F-4D97-AF65-F5344CB8AC3E}">
        <p14:creationId xmlns:p14="http://schemas.microsoft.com/office/powerpoint/2010/main" val="2747353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0AEA-CEF9-4B73-A641-D94B3E169B3C}"/>
              </a:ext>
            </a:extLst>
          </p:cNvPr>
          <p:cNvSpPr>
            <a:spLocks noGrp="1"/>
          </p:cNvSpPr>
          <p:nvPr>
            <p:ph type="title"/>
          </p:nvPr>
        </p:nvSpPr>
        <p:spPr/>
        <p:txBody>
          <a:bodyPr/>
          <a:lstStyle/>
          <a:p>
            <a:r>
              <a:rPr lang="en-US" sz="2400" b="1" dirty="0"/>
              <a:t>Acceptance Criteria: </a:t>
            </a:r>
            <a:endParaRPr lang="en-US" sz="2400" dirty="0"/>
          </a:p>
        </p:txBody>
      </p:sp>
      <p:sp>
        <p:nvSpPr>
          <p:cNvPr id="3" name="Content Placeholder 2">
            <a:extLst>
              <a:ext uri="{FF2B5EF4-FFF2-40B4-BE49-F238E27FC236}">
                <a16:creationId xmlns:a16="http://schemas.microsoft.com/office/drawing/2014/main" id="{7F63F44E-F58C-452E-8EFD-C4298670E196}"/>
              </a:ext>
            </a:extLst>
          </p:cNvPr>
          <p:cNvSpPr>
            <a:spLocks noGrp="1"/>
          </p:cNvSpPr>
          <p:nvPr>
            <p:ph idx="1"/>
          </p:nvPr>
        </p:nvSpPr>
        <p:spPr>
          <a:xfrm>
            <a:off x="457320" y="1448781"/>
            <a:ext cx="11286635" cy="4653582"/>
          </a:xfrm>
        </p:spPr>
        <p:txBody>
          <a:bodyPr/>
          <a:lstStyle/>
          <a:p>
            <a:r>
              <a:rPr lang="en-US" sz="1400" dirty="0"/>
              <a:t>Participants are expected to build an end-to-end application which includes a web interface to edit the SDA KPI data in the web application, create/manage required database objects for the SDA Dashboard, APIs and Data Visualization (Dashboard). </a:t>
            </a:r>
          </a:p>
          <a:p>
            <a:pPr lvl="0"/>
            <a:r>
              <a:rPr lang="en-US" sz="1400" dirty="0"/>
              <a:t>Manual entry for all fields will be allowed, even if automation exists, the user can override the value.</a:t>
            </a:r>
          </a:p>
          <a:p>
            <a:pPr lvl="0"/>
            <a:r>
              <a:rPr lang="en-US" sz="1400" dirty="0"/>
              <a:t>User permissions include user admins, users with access to update individual product information and read only users.</a:t>
            </a:r>
          </a:p>
          <a:p>
            <a:pPr lvl="0"/>
            <a:r>
              <a:rPr lang="en-US" sz="1400" dirty="0"/>
              <a:t>Each product is rolled up into a portfolio and each portfolio is rolled up into an overall KPI summary.</a:t>
            </a:r>
          </a:p>
          <a:p>
            <a:pPr lvl="0"/>
            <a:r>
              <a:rPr lang="en-US" sz="1400" dirty="0"/>
              <a:t>Data can be visualized by individual product metric or as a roll up at the portfolio or SDA summary</a:t>
            </a:r>
          </a:p>
          <a:p>
            <a:pPr lvl="0"/>
            <a:r>
              <a:rPr lang="en-US" sz="1400" dirty="0"/>
              <a:t>Admin has the ability to create custom date ranges for Program Increments and Sprints.</a:t>
            </a:r>
          </a:p>
          <a:p>
            <a:pPr lvl="0"/>
            <a:r>
              <a:rPr lang="en-US" sz="1400" dirty="0"/>
              <a:t>The solution provided should have a web interface to edit KPI data with following features</a:t>
            </a:r>
          </a:p>
          <a:p>
            <a:pPr lvl="1"/>
            <a:r>
              <a:rPr lang="en-US" sz="1200" dirty="0"/>
              <a:t>Table or other appropriate data to display the content on a web browser</a:t>
            </a:r>
          </a:p>
          <a:p>
            <a:pPr lvl="1"/>
            <a:r>
              <a:rPr lang="en-US" sz="1200" dirty="0"/>
              <a:t>Sorting, filtering and grouping  on the columns</a:t>
            </a:r>
          </a:p>
          <a:p>
            <a:pPr lvl="1"/>
            <a:r>
              <a:rPr lang="en-US" sz="1200" dirty="0"/>
              <a:t>Edit existing record(s)</a:t>
            </a:r>
          </a:p>
          <a:p>
            <a:pPr lvl="1"/>
            <a:r>
              <a:rPr lang="en-US" sz="1200" dirty="0"/>
              <a:t>Add new record(s)</a:t>
            </a:r>
          </a:p>
          <a:p>
            <a:pPr lvl="1"/>
            <a:r>
              <a:rPr lang="en-US" sz="1200" dirty="0"/>
              <a:t>Save changes to database</a:t>
            </a:r>
          </a:p>
          <a:p>
            <a:pPr lvl="1"/>
            <a:r>
              <a:rPr lang="en-US" sz="1200" dirty="0"/>
              <a:t>Export data to spreadsheet</a:t>
            </a:r>
          </a:p>
          <a:p>
            <a:pPr lvl="1"/>
            <a:r>
              <a:rPr lang="en-US" sz="1200" dirty="0"/>
              <a:t>Should be efficient in terms of performance and UX</a:t>
            </a:r>
          </a:p>
          <a:p>
            <a:pPr lvl="1"/>
            <a:r>
              <a:rPr lang="en-US" sz="1200" dirty="0"/>
              <a:t> Solution should be capable of being integrated with a cloud offering like PCF (Note – The solution need not be hosted on any cloud platform by the participants as part of this activity. This can be optional Feature for this competition.</a:t>
            </a:r>
          </a:p>
          <a:p>
            <a:r>
              <a:rPr lang="en-US" sz="1400" dirty="0"/>
              <a:t>All DDL and DML changes should be scripted and be made available as part of source code.</a:t>
            </a:r>
          </a:p>
          <a:p>
            <a:r>
              <a:rPr lang="en-US" sz="1400" dirty="0"/>
              <a:t>Data Sync from Jira to RDBMS should be automated. (May not be implemented as part of this contest)</a:t>
            </a:r>
          </a:p>
          <a:p>
            <a:pPr lvl="0"/>
            <a:r>
              <a:rPr lang="en-US" sz="1400" dirty="0">
                <a:solidFill>
                  <a:schemeClr val="tx1"/>
                </a:solidFill>
              </a:rPr>
              <a:t>Solution should have the capability to be integrated with Single Sign on capabilities (SSO may not be implemented as part of this contest)</a:t>
            </a:r>
          </a:p>
        </p:txBody>
      </p:sp>
      <p:sp>
        <p:nvSpPr>
          <p:cNvPr id="4" name="Footer Placeholder 3">
            <a:extLst>
              <a:ext uri="{FF2B5EF4-FFF2-40B4-BE49-F238E27FC236}">
                <a16:creationId xmlns:a16="http://schemas.microsoft.com/office/drawing/2014/main" id="{E25BA545-4B1D-4064-AAC7-F5A4F45E6B72}"/>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2553B8C4-633B-488F-9EA3-87AE76939A3A}"/>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13</a:t>
            </a:fld>
            <a:endParaRPr lang="en-US" sz="1000" dirty="0">
              <a:solidFill>
                <a:srgbClr val="FFFFFF">
                  <a:lumMod val="50000"/>
                </a:srgbClr>
              </a:solidFill>
            </a:endParaRPr>
          </a:p>
        </p:txBody>
      </p:sp>
    </p:spTree>
    <p:extLst>
      <p:ext uri="{BB962C8B-B14F-4D97-AF65-F5344CB8AC3E}">
        <p14:creationId xmlns:p14="http://schemas.microsoft.com/office/powerpoint/2010/main" val="3219309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0AEA-CEF9-4B73-A641-D94B3E169B3C}"/>
              </a:ext>
            </a:extLst>
          </p:cNvPr>
          <p:cNvSpPr>
            <a:spLocks noGrp="1"/>
          </p:cNvSpPr>
          <p:nvPr>
            <p:ph type="title"/>
          </p:nvPr>
        </p:nvSpPr>
        <p:spPr/>
        <p:txBody>
          <a:bodyPr/>
          <a:lstStyle/>
          <a:p>
            <a:r>
              <a:rPr lang="en-US" sz="2400" b="1" dirty="0"/>
              <a:t>Guidelines</a:t>
            </a:r>
            <a:endParaRPr lang="en-US" sz="2400" dirty="0"/>
          </a:p>
        </p:txBody>
      </p:sp>
      <p:sp>
        <p:nvSpPr>
          <p:cNvPr id="3" name="Content Placeholder 2">
            <a:extLst>
              <a:ext uri="{FF2B5EF4-FFF2-40B4-BE49-F238E27FC236}">
                <a16:creationId xmlns:a16="http://schemas.microsoft.com/office/drawing/2014/main" id="{7F63F44E-F58C-452E-8EFD-C4298670E196}"/>
              </a:ext>
            </a:extLst>
          </p:cNvPr>
          <p:cNvSpPr>
            <a:spLocks noGrp="1"/>
          </p:cNvSpPr>
          <p:nvPr>
            <p:ph idx="1"/>
          </p:nvPr>
        </p:nvSpPr>
        <p:spPr>
          <a:xfrm>
            <a:off x="457320" y="1448781"/>
            <a:ext cx="11286635" cy="3619452"/>
          </a:xfrm>
        </p:spPr>
        <p:txBody>
          <a:bodyPr/>
          <a:lstStyle/>
          <a:p>
            <a:pPr lvl="0"/>
            <a:r>
              <a:rPr lang="en-US" sz="1400" dirty="0"/>
              <a:t>Participants who are registered for the contest would be given access to the Inner Source repository</a:t>
            </a:r>
          </a:p>
          <a:p>
            <a:pPr lvl="0"/>
            <a:r>
              <a:rPr lang="en-US" sz="1400" dirty="0"/>
              <a:t>Small demo video on existing functionality would be made available </a:t>
            </a:r>
          </a:p>
          <a:p>
            <a:pPr lvl="0"/>
            <a:r>
              <a:rPr lang="en-US" sz="1400" dirty="0"/>
              <a:t>Every participant have to create their own branch out of Master (‘Challenge_2_&lt;BEMSID&gt;’).</a:t>
            </a:r>
          </a:p>
          <a:p>
            <a:pPr lvl="0"/>
            <a:r>
              <a:rPr lang="en-US" sz="1400" dirty="0"/>
              <a:t>The solution developed should follow proper coding standards, code documentation, project structure and must be easy to maintain</a:t>
            </a:r>
          </a:p>
          <a:p>
            <a:pPr lvl="0"/>
            <a:r>
              <a:rPr lang="en-US" sz="1400" dirty="0"/>
              <a:t>Participants who have completed the challenge can check in the code along with scripts for the database creation/modification to their respective branches. Also, create a ‘demo’ folder and commit a video recording of the working solution/demo</a:t>
            </a:r>
          </a:p>
          <a:p>
            <a:pPr lvl="0"/>
            <a:r>
              <a:rPr lang="en-US" sz="1400" dirty="0"/>
              <a:t>Demo video can be created by running the application in local machine. Application should not hosted on any cloud platform</a:t>
            </a:r>
          </a:p>
          <a:p>
            <a:pPr lvl="0"/>
            <a:r>
              <a:rPr lang="en-US" sz="1400" dirty="0"/>
              <a:t>This is not a team activity. This challenge has to be taken up by individuals and worked</a:t>
            </a:r>
          </a:p>
          <a:p>
            <a:pPr lvl="0"/>
            <a:r>
              <a:rPr lang="en-US" sz="1400" dirty="0"/>
              <a:t>This is a stretch activity and no charge lines are available.</a:t>
            </a:r>
          </a:p>
          <a:p>
            <a:pPr lvl="0"/>
            <a:r>
              <a:rPr lang="en-US" sz="1400" dirty="0"/>
              <a:t>Solution should use only RDBMS database (Relational Database) technologies for database layer. Front-end and service layer technologies could be Angular, </a:t>
            </a:r>
            <a:r>
              <a:rPr lang="en-US" sz="1400" dirty="0" err="1"/>
              <a:t>ReactJS</a:t>
            </a:r>
            <a:r>
              <a:rPr lang="en-US" sz="1400" dirty="0"/>
              <a:t>, C#, </a:t>
            </a:r>
            <a:r>
              <a:rPr lang="en-US" sz="1400" dirty="0" err="1"/>
              <a:t>.net</a:t>
            </a:r>
            <a:r>
              <a:rPr lang="en-US" sz="1400" dirty="0"/>
              <a:t> Rest APIs, that best suits the requirement.</a:t>
            </a:r>
          </a:p>
          <a:p>
            <a:pPr lvl="0"/>
            <a:r>
              <a:rPr lang="en-US" sz="1400" dirty="0"/>
              <a:t>All software and libraries used should only be downloaded from the SRES or Software Express to ensure that the software used are Boeing approved. Software/libraries should not be downloaded or copied from the external sources.</a:t>
            </a:r>
          </a:p>
          <a:p>
            <a:pPr lvl="0"/>
            <a:r>
              <a:rPr lang="en-US" sz="1400" dirty="0"/>
              <a:t>Solution should only be worked on the Boeing laptop adhering to the Boeing InfoSec policies. </a:t>
            </a:r>
          </a:p>
          <a:p>
            <a:pPr lvl="0"/>
            <a:r>
              <a:rPr lang="en-US" sz="1400" dirty="0"/>
              <a:t>This challenge is expected to be completed in 6 weeks.</a:t>
            </a:r>
          </a:p>
        </p:txBody>
      </p:sp>
      <p:sp>
        <p:nvSpPr>
          <p:cNvPr id="4" name="Footer Placeholder 3">
            <a:extLst>
              <a:ext uri="{FF2B5EF4-FFF2-40B4-BE49-F238E27FC236}">
                <a16:creationId xmlns:a16="http://schemas.microsoft.com/office/drawing/2014/main" id="{E25BA545-4B1D-4064-AAC7-F5A4F45E6B72}"/>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2553B8C4-633B-488F-9EA3-87AE76939A3A}"/>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14</a:t>
            </a:fld>
            <a:endParaRPr lang="en-US" sz="1000" dirty="0">
              <a:solidFill>
                <a:srgbClr val="FFFFFF">
                  <a:lumMod val="50000"/>
                </a:srgbClr>
              </a:solidFill>
            </a:endParaRPr>
          </a:p>
        </p:txBody>
      </p:sp>
    </p:spTree>
    <p:extLst>
      <p:ext uri="{BB962C8B-B14F-4D97-AF65-F5344CB8AC3E}">
        <p14:creationId xmlns:p14="http://schemas.microsoft.com/office/powerpoint/2010/main" val="2842146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0AEA-CEF9-4B73-A641-D94B3E169B3C}"/>
              </a:ext>
            </a:extLst>
          </p:cNvPr>
          <p:cNvSpPr>
            <a:spLocks noGrp="1"/>
          </p:cNvSpPr>
          <p:nvPr>
            <p:ph type="title"/>
          </p:nvPr>
        </p:nvSpPr>
        <p:spPr/>
        <p:txBody>
          <a:bodyPr/>
          <a:lstStyle/>
          <a:p>
            <a:r>
              <a:rPr lang="en-US" sz="2400" b="1" dirty="0"/>
              <a:t>Communication Channel</a:t>
            </a:r>
            <a:endParaRPr lang="en-US" sz="2400" dirty="0"/>
          </a:p>
        </p:txBody>
      </p:sp>
      <p:sp>
        <p:nvSpPr>
          <p:cNvPr id="3" name="Content Placeholder 2">
            <a:extLst>
              <a:ext uri="{FF2B5EF4-FFF2-40B4-BE49-F238E27FC236}">
                <a16:creationId xmlns:a16="http://schemas.microsoft.com/office/drawing/2014/main" id="{7F63F44E-F58C-452E-8EFD-C4298670E196}"/>
              </a:ext>
            </a:extLst>
          </p:cNvPr>
          <p:cNvSpPr>
            <a:spLocks noGrp="1"/>
          </p:cNvSpPr>
          <p:nvPr>
            <p:ph idx="1"/>
          </p:nvPr>
        </p:nvSpPr>
        <p:spPr>
          <a:xfrm>
            <a:off x="457320" y="1448781"/>
            <a:ext cx="11286635" cy="609398"/>
          </a:xfrm>
        </p:spPr>
        <p:txBody>
          <a:bodyPr/>
          <a:lstStyle/>
          <a:p>
            <a:pPr lvl="0"/>
            <a:r>
              <a:rPr lang="en-US" dirty="0">
                <a:hlinkClick r:id="rId2"/>
              </a:rPr>
              <a:t>Inner Source </a:t>
            </a:r>
            <a:r>
              <a:rPr lang="en-US" dirty="0" err="1">
                <a:hlinkClick r:id="rId2"/>
              </a:rPr>
              <a:t>Mattermost</a:t>
            </a:r>
            <a:r>
              <a:rPr lang="en-US" dirty="0">
                <a:hlinkClick r:id="rId2"/>
              </a:rPr>
              <a:t> channel</a:t>
            </a:r>
            <a:r>
              <a:rPr lang="en-US" dirty="0"/>
              <a:t> is the platform for communications during the event period.</a:t>
            </a:r>
          </a:p>
        </p:txBody>
      </p:sp>
      <p:sp>
        <p:nvSpPr>
          <p:cNvPr id="4" name="Footer Placeholder 3">
            <a:extLst>
              <a:ext uri="{FF2B5EF4-FFF2-40B4-BE49-F238E27FC236}">
                <a16:creationId xmlns:a16="http://schemas.microsoft.com/office/drawing/2014/main" id="{E25BA545-4B1D-4064-AAC7-F5A4F45E6B72}"/>
              </a:ext>
            </a:extLst>
          </p:cNvPr>
          <p:cNvSpPr>
            <a:spLocks noGrp="1"/>
          </p:cNvSpPr>
          <p:nvPr>
            <p:ph type="ftr" sz="quarter" idx="11"/>
          </p:nvPr>
        </p:nvSpPr>
        <p:spPr/>
        <p:txBody>
          <a:bodyPr/>
          <a:lstStyle/>
          <a:p>
            <a:r>
              <a:rPr lang="en-US">
                <a:solidFill>
                  <a:srgbClr val="FFFFFF">
                    <a:lumMod val="50000"/>
                  </a:srgbClr>
                </a:solidFill>
              </a:rPr>
              <a:t>BOEING PROPRIETARY</a:t>
            </a:r>
            <a:endParaRPr lang="en-US" dirty="0">
              <a:solidFill>
                <a:srgbClr val="FFFFFF">
                  <a:lumMod val="50000"/>
                </a:srgbClr>
              </a:solidFill>
            </a:endParaRPr>
          </a:p>
        </p:txBody>
      </p:sp>
      <p:sp>
        <p:nvSpPr>
          <p:cNvPr id="5" name="Slide Number Placeholder 4">
            <a:extLst>
              <a:ext uri="{FF2B5EF4-FFF2-40B4-BE49-F238E27FC236}">
                <a16:creationId xmlns:a16="http://schemas.microsoft.com/office/drawing/2014/main" id="{2553B8C4-633B-488F-9EA3-87AE76939A3A}"/>
              </a:ext>
            </a:extLst>
          </p:cNvPr>
          <p:cNvSpPr>
            <a:spLocks noGrp="1"/>
          </p:cNvSpPr>
          <p:nvPr>
            <p:ph type="sldNum" sz="quarter" idx="4"/>
          </p:nvPr>
        </p:nvSpPr>
        <p:spPr/>
        <p:txBody>
          <a:bodyPr/>
          <a:lstStyle/>
          <a:p>
            <a:fld id="{689318A1-174D-4DEE-8106-03A37B9BCF15}" type="slidenum">
              <a:rPr lang="en-US" sz="1000" smtClean="0">
                <a:solidFill>
                  <a:srgbClr val="FFFFFF">
                    <a:lumMod val="50000"/>
                  </a:srgbClr>
                </a:solidFill>
              </a:rPr>
              <a:pPr/>
              <a:t>15</a:t>
            </a:fld>
            <a:endParaRPr lang="en-US" sz="1000" dirty="0">
              <a:solidFill>
                <a:srgbClr val="FFFFFF">
                  <a:lumMod val="50000"/>
                </a:srgbClr>
              </a:solidFill>
            </a:endParaRPr>
          </a:p>
        </p:txBody>
      </p:sp>
      <p:sp>
        <p:nvSpPr>
          <p:cNvPr id="7" name="Title 1">
            <a:extLst>
              <a:ext uri="{FF2B5EF4-FFF2-40B4-BE49-F238E27FC236}">
                <a16:creationId xmlns:a16="http://schemas.microsoft.com/office/drawing/2014/main" id="{97B30AEA-CEF9-4B73-A641-D94B3E169B3C}"/>
              </a:ext>
            </a:extLst>
          </p:cNvPr>
          <p:cNvSpPr txBox="1">
            <a:spLocks/>
          </p:cNvSpPr>
          <p:nvPr/>
        </p:nvSpPr>
        <p:spPr bwMode="auto">
          <a:xfrm>
            <a:off x="452683" y="2575520"/>
            <a:ext cx="11286635" cy="534388"/>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lgn="l" defTabSz="1020763" rtl="0" eaLnBrk="1" fontAlgn="base" hangingPunct="1">
              <a:lnSpc>
                <a:spcPct val="90000"/>
              </a:lnSpc>
              <a:spcBef>
                <a:spcPct val="0"/>
              </a:spcBef>
              <a:spcAft>
                <a:spcPct val="0"/>
              </a:spcAft>
              <a:defRPr sz="3200" b="0" i="0">
                <a:solidFill>
                  <a:schemeClr val="tx2"/>
                </a:solidFill>
                <a:latin typeface="+mj-lt"/>
                <a:ea typeface="+mj-ea"/>
                <a:cs typeface="+mj-cs"/>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kern="0"/>
              <a:t>Winner Selection Process</a:t>
            </a:r>
            <a:endParaRPr lang="en-US" sz="2400" kern="0" dirty="0"/>
          </a:p>
        </p:txBody>
      </p:sp>
      <p:sp>
        <p:nvSpPr>
          <p:cNvPr id="8" name="Content Placeholder 2">
            <a:extLst>
              <a:ext uri="{FF2B5EF4-FFF2-40B4-BE49-F238E27FC236}">
                <a16:creationId xmlns:a16="http://schemas.microsoft.com/office/drawing/2014/main" id="{7F63F44E-F58C-452E-8EFD-C4298670E196}"/>
              </a:ext>
            </a:extLst>
          </p:cNvPr>
          <p:cNvSpPr txBox="1">
            <a:spLocks/>
          </p:cNvSpPr>
          <p:nvPr/>
        </p:nvSpPr>
        <p:spPr bwMode="auto">
          <a:xfrm>
            <a:off x="498867" y="3274731"/>
            <a:ext cx="11286635" cy="3010055"/>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169863" indent="-169863" algn="l" defTabSz="820738" rtl="0" eaLnBrk="1" fontAlgn="base" hangingPunct="1">
              <a:lnSpc>
                <a:spcPct val="90000"/>
              </a:lnSpc>
              <a:spcBef>
                <a:spcPct val="30000"/>
              </a:spcBef>
              <a:spcAft>
                <a:spcPct val="0"/>
              </a:spcAft>
              <a:buClr>
                <a:schemeClr val="tx2"/>
              </a:buClr>
              <a:buFont typeface="Arial"/>
              <a:buChar char="•"/>
              <a:defRPr sz="2200" b="0">
                <a:solidFill>
                  <a:schemeClr val="tx1">
                    <a:lumMod val="75000"/>
                    <a:lumOff val="25000"/>
                  </a:schemeClr>
                </a:solidFill>
                <a:latin typeface="+mn-lt"/>
                <a:ea typeface="+mn-ea"/>
                <a:cs typeface="+mn-cs"/>
              </a:defRPr>
            </a:lvl1pPr>
            <a:lvl2pPr marL="376238" indent="-204788" algn="l" defTabSz="820738" rtl="0" eaLnBrk="1" fontAlgn="base" hangingPunct="1">
              <a:lnSpc>
                <a:spcPct val="90000"/>
              </a:lnSpc>
              <a:spcBef>
                <a:spcPct val="30000"/>
              </a:spcBef>
              <a:spcAft>
                <a:spcPct val="0"/>
              </a:spcAft>
              <a:buClr>
                <a:schemeClr val="tx2"/>
              </a:buClr>
              <a:buFont typeface="Arial"/>
              <a:buChar char="•"/>
              <a:defRPr sz="2000" b="0">
                <a:solidFill>
                  <a:schemeClr val="tx1">
                    <a:lumMod val="75000"/>
                    <a:lumOff val="25000"/>
                  </a:schemeClr>
                </a:solidFill>
                <a:latin typeface="+mn-lt"/>
              </a:defRPr>
            </a:lvl2pPr>
            <a:lvl3pPr marL="627063" indent="-185738" algn="l" defTabSz="820738" rtl="0" eaLnBrk="1" fontAlgn="base" hangingPunct="1">
              <a:lnSpc>
                <a:spcPct val="90000"/>
              </a:lnSpc>
              <a:spcBef>
                <a:spcPct val="30000"/>
              </a:spcBef>
              <a:spcAft>
                <a:spcPct val="0"/>
              </a:spcAft>
              <a:buClr>
                <a:schemeClr val="tx2"/>
              </a:buClr>
              <a:buFont typeface="Arial" charset="0"/>
              <a:buChar char="–"/>
              <a:defRPr b="0">
                <a:solidFill>
                  <a:schemeClr val="tx1">
                    <a:lumMod val="75000"/>
                    <a:lumOff val="25000"/>
                  </a:schemeClr>
                </a:solidFill>
                <a:latin typeface="+mn-lt"/>
              </a:defRPr>
            </a:lvl3pPr>
            <a:lvl4pPr marL="792163" indent="-163513" algn="l" defTabSz="820738" rtl="0" eaLnBrk="1" fontAlgn="base" hangingPunct="1">
              <a:lnSpc>
                <a:spcPct val="90000"/>
              </a:lnSpc>
              <a:spcBef>
                <a:spcPct val="30000"/>
              </a:spcBef>
              <a:spcAft>
                <a:spcPct val="0"/>
              </a:spcAft>
              <a:buClr>
                <a:schemeClr val="tx2"/>
              </a:buClr>
              <a:buFont typeface="Arial" charset="0"/>
              <a:buChar char="–"/>
              <a:defRPr b="0">
                <a:solidFill>
                  <a:schemeClr val="tx1">
                    <a:lumMod val="75000"/>
                    <a:lumOff val="25000"/>
                  </a:schemeClr>
                </a:solidFill>
                <a:latin typeface="+mn-lt"/>
              </a:defRPr>
            </a:lvl4pPr>
            <a:lvl5pPr marL="957263" indent="-163513" algn="l" defTabSz="820738" rtl="0" eaLnBrk="1" fontAlgn="base" hangingPunct="1">
              <a:lnSpc>
                <a:spcPct val="90000"/>
              </a:lnSpc>
              <a:spcBef>
                <a:spcPct val="30000"/>
              </a:spcBef>
              <a:spcAft>
                <a:spcPct val="0"/>
              </a:spcAft>
              <a:buClr>
                <a:schemeClr val="tx2"/>
              </a:buClr>
              <a:buFont typeface="Arial" charset="0"/>
              <a:buChar char="–"/>
              <a:defRPr sz="1600" b="0">
                <a:solidFill>
                  <a:schemeClr val="tx1">
                    <a:lumMod val="75000"/>
                    <a:lumOff val="25000"/>
                  </a:schemeClr>
                </a:solidFill>
                <a:latin typeface="+mn-lt"/>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a:lstStyle>
          <a:p>
            <a:r>
              <a:rPr lang="en-US" kern="0"/>
              <a:t>Winners would be selected based on the following factors</a:t>
            </a:r>
          </a:p>
          <a:p>
            <a:pPr lvl="2"/>
            <a:endParaRPr lang="en-US" kern="0"/>
          </a:p>
          <a:p>
            <a:pPr lvl="2"/>
            <a:r>
              <a:rPr lang="en-US" kern="0"/>
              <a:t>Meeting the acceptance criteria</a:t>
            </a:r>
          </a:p>
          <a:p>
            <a:pPr lvl="2"/>
            <a:r>
              <a:rPr lang="en-US" kern="0"/>
              <a:t>Solution should be robust and easily scalable for future need with minimal effort</a:t>
            </a:r>
          </a:p>
          <a:p>
            <a:pPr lvl="2"/>
            <a:r>
              <a:rPr lang="en-US" kern="0"/>
              <a:t>Following basic coding standards and code documentation</a:t>
            </a:r>
          </a:p>
          <a:p>
            <a:pPr lvl="2"/>
            <a:r>
              <a:rPr lang="en-US" kern="0"/>
              <a:t>Adhering to all the process and InfoSec related guidelines</a:t>
            </a:r>
          </a:p>
          <a:p>
            <a:pPr lvl="2"/>
            <a:endParaRPr lang="en-US" kern="0"/>
          </a:p>
          <a:p>
            <a:r>
              <a:rPr lang="en-US" kern="0"/>
              <a:t>Winner would be recognized with an exciting reward and winner’s name on ‘Star Coders’ wall of fame </a:t>
            </a:r>
            <a:endParaRPr lang="en-US" kern="0" dirty="0"/>
          </a:p>
        </p:txBody>
      </p:sp>
    </p:spTree>
    <p:extLst>
      <p:ext uri="{BB962C8B-B14F-4D97-AF65-F5344CB8AC3E}">
        <p14:creationId xmlns:p14="http://schemas.microsoft.com/office/powerpoint/2010/main" val="285221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O.10 Sales Pitch Deck v1">
  <a:themeElements>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sz="1000" b="1" kern="0" dirty="0">
            <a:solidFill>
              <a:prstClr val="white"/>
            </a:solidFill>
            <a:latin typeface="+mn-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94635"/>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BDF"/>
    </a:custClr>
    <a:custClr name="PANTONE 283">
      <a:srgbClr val="92C0EA"/>
    </a:custClr>
    <a:custClr name="PANTONE 2597">
      <a:srgbClr val="5C0F8C"/>
    </a:custClr>
  </a:custClrLst>
</a:theme>
</file>

<file path=ppt/theme/theme2.xml><?xml version="1.0" encoding="utf-8"?>
<a:theme xmlns:a="http://schemas.openxmlformats.org/drawingml/2006/main" name="Boeing Logo Divider Slide_White BG">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2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GradientBar_IdentityBar_QUESTIONS 1">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GradientBar_IdentityBar_QUESTIONS 2">
        <a:dk1>
          <a:srgbClr val="000000"/>
        </a:dk1>
        <a:lt1>
          <a:srgbClr val="FFFFFF"/>
        </a:lt1>
        <a:dk2>
          <a:srgbClr val="0039A6"/>
        </a:dk2>
        <a:lt2>
          <a:srgbClr val="A5ACB0"/>
        </a:lt2>
        <a:accent1>
          <a:srgbClr val="580F8B"/>
        </a:accent1>
        <a:accent2>
          <a:srgbClr val="E70033"/>
        </a:accent2>
        <a:accent3>
          <a:srgbClr val="FFFFFF"/>
        </a:accent3>
        <a:accent4>
          <a:srgbClr val="000000"/>
        </a:accent4>
        <a:accent5>
          <a:srgbClr val="B4AAC4"/>
        </a:accent5>
        <a:accent6>
          <a:srgbClr val="D1002D"/>
        </a:accent6>
        <a:hlink>
          <a:srgbClr val="0096DB"/>
        </a:hlink>
        <a:folHlink>
          <a:srgbClr val="77B800"/>
        </a:folHlink>
      </a:clrScheme>
      <a:clrMap bg1="lt1" tx1="dk1" bg2="lt2" tx2="dk2" accent1="accent1" accent2="accent2" accent3="accent3" accent4="accent4" accent5="accent5" accent6="accent6" hlink="hlink" folHlink="folHlink"/>
    </a:extraClrScheme>
    <a:extraClrScheme>
      <a:clrScheme name="2_GradientBar_IdentityBar_QUESTIONS 3">
        <a:dk1>
          <a:srgbClr val="000000"/>
        </a:dk1>
        <a:lt1>
          <a:srgbClr val="FFFFFF"/>
        </a:lt1>
        <a:dk2>
          <a:srgbClr val="0039A6"/>
        </a:dk2>
        <a:lt2>
          <a:srgbClr val="848F98"/>
        </a:lt2>
        <a:accent1>
          <a:srgbClr val="580F8B"/>
        </a:accent1>
        <a:accent2>
          <a:srgbClr val="E70033"/>
        </a:accent2>
        <a:accent3>
          <a:srgbClr val="FFFFFF"/>
        </a:accent3>
        <a:accent4>
          <a:srgbClr val="000000"/>
        </a:accent4>
        <a:accent5>
          <a:srgbClr val="B4AAC4"/>
        </a:accent5>
        <a:accent6>
          <a:srgbClr val="D1002D"/>
        </a:accent6>
        <a:hlink>
          <a:srgbClr val="0096DB"/>
        </a:hlink>
        <a:folHlink>
          <a:srgbClr val="77B800"/>
        </a:folHlink>
      </a:clrScheme>
      <a:clrMap bg1="lt1" tx1="dk1" bg2="lt2" tx2="dk2" accent1="accent1" accent2="accent2" accent3="accent3" accent4="accent4" accent5="accent5" accent6="accent6" hlink="hlink" folHlink="folHlink"/>
    </a:extraClrScheme>
    <a:extraClrScheme>
      <a:clrScheme name="2_GradientBar_IdentityBar_QUESTIONS 4">
        <a:dk1>
          <a:srgbClr val="000000"/>
        </a:dk1>
        <a:lt1>
          <a:srgbClr val="FFFFFF"/>
        </a:lt1>
        <a:dk2>
          <a:srgbClr val="003CA2"/>
        </a:dk2>
        <a:lt2>
          <a:srgbClr val="848F98"/>
        </a:lt2>
        <a:accent1>
          <a:srgbClr val="580F8B"/>
        </a:accent1>
        <a:accent2>
          <a:srgbClr val="E24A12"/>
        </a:accent2>
        <a:accent3>
          <a:srgbClr val="FFFFFF"/>
        </a:accent3>
        <a:accent4>
          <a:srgbClr val="000000"/>
        </a:accent4>
        <a:accent5>
          <a:srgbClr val="B4AAC4"/>
        </a:accent5>
        <a:accent6>
          <a:srgbClr val="CD420F"/>
        </a:accent6>
        <a:hlink>
          <a:srgbClr val="0096DB"/>
        </a:hlink>
        <a:folHlink>
          <a:srgbClr val="77B800"/>
        </a:folHlink>
      </a:clrScheme>
      <a:clrMap bg1="lt1" tx1="dk1" bg2="lt2" tx2="dk2" accent1="accent1" accent2="accent2" accent3="accent3" accent4="accent4" accent5="accent5" accent6="accent6" hlink="hlink" folHlink="folHlink"/>
    </a:extraClrScheme>
    <a:extraClrScheme>
      <a:clrScheme name="2_GradientBar_IdentityBar_QUESTIONS 5">
        <a:dk1>
          <a:srgbClr val="000000"/>
        </a:dk1>
        <a:lt1>
          <a:srgbClr val="FFFFFF"/>
        </a:lt1>
        <a:dk2>
          <a:srgbClr val="003CA2"/>
        </a:dk2>
        <a:lt2>
          <a:srgbClr val="848F98"/>
        </a:lt2>
        <a:accent1>
          <a:srgbClr val="580F8B"/>
        </a:accent1>
        <a:accent2>
          <a:srgbClr val="E70033"/>
        </a:accent2>
        <a:accent3>
          <a:srgbClr val="FFFFFF"/>
        </a:accent3>
        <a:accent4>
          <a:srgbClr val="000000"/>
        </a:accent4>
        <a:accent5>
          <a:srgbClr val="B4AAC4"/>
        </a:accent5>
        <a:accent6>
          <a:srgbClr val="D1002D"/>
        </a:accent6>
        <a:hlink>
          <a:srgbClr val="0096DB"/>
        </a:hlink>
        <a:folHlink>
          <a:srgbClr val="77B8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54D2FB69D84F3745B4FF2E00F4719B09" ma:contentTypeVersion="1" ma:contentTypeDescription="Create a new document." ma:contentTypeScope="" ma:versionID="60587213a451a4abe8426ef0182d6410">
  <xsd:schema xmlns:xsd="http://www.w3.org/2001/XMLSchema" xmlns:xs="http://www.w3.org/2001/XMLSchema" xmlns:p="http://schemas.microsoft.com/office/2006/metadata/properties" xmlns:ns2="7c7aac5b-f5d2-449f-972e-00d0332a0560" targetNamespace="http://schemas.microsoft.com/office/2006/metadata/properties" ma:root="true" ma:fieldsID="781151f95391ac2aee0844a5c1a2632d" ns2:_="">
    <xsd:import namespace="7c7aac5b-f5d2-449f-972e-00d0332a0560"/>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7aac5b-f5d2-449f-972e-00d0332a056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8C4E70-4A00-4ED8-9A7E-819D29EBB99D}">
  <ds:schemaRefs>
    <ds:schemaRef ds:uri="http://schemas.microsoft.com/sharepoint/events"/>
  </ds:schemaRefs>
</ds:datastoreItem>
</file>

<file path=customXml/itemProps2.xml><?xml version="1.0" encoding="utf-8"?>
<ds:datastoreItem xmlns:ds="http://schemas.openxmlformats.org/officeDocument/2006/customXml" ds:itemID="{E67817EB-BD30-46C0-B174-204E7455ABA6}">
  <ds:schemaRefs>
    <ds:schemaRef ds:uri="http://schemas.microsoft.com/sharepoint/v3/contenttype/forms"/>
  </ds:schemaRefs>
</ds:datastoreItem>
</file>

<file path=customXml/itemProps3.xml><?xml version="1.0" encoding="utf-8"?>
<ds:datastoreItem xmlns:ds="http://schemas.openxmlformats.org/officeDocument/2006/customXml" ds:itemID="{29D9B7A1-858F-4A67-9AB9-BED8B2CE3F96}">
  <ds:schemaRefs>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dcmitype/"/>
    <ds:schemaRef ds:uri="7c7aac5b-f5d2-449f-972e-00d0332a0560"/>
    <ds:schemaRef ds:uri="http://purl.org/dc/elements/1.1/"/>
  </ds:schemaRefs>
</ds:datastoreItem>
</file>

<file path=customXml/itemProps4.xml><?xml version="1.0" encoding="utf-8"?>
<ds:datastoreItem xmlns:ds="http://schemas.openxmlformats.org/officeDocument/2006/customXml" ds:itemID="{B037DAF1-2492-4F25-B91B-2D35A2A49B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7aac5b-f5d2-449f-972e-00d0332a05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95582</TotalTime>
  <Words>1307</Words>
  <Application>Microsoft Office PowerPoint</Application>
  <PresentationFormat>Widescreen</PresentationFormat>
  <Paragraphs>152</Paragraphs>
  <Slides>15</Slides>
  <Notes>1</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2" baseType="lpstr">
      <vt:lpstr>ＭＳ Ｐゴシック</vt:lpstr>
      <vt:lpstr>Arial</vt:lpstr>
      <vt:lpstr>Calibri</vt:lpstr>
      <vt:lpstr>Wingdings</vt:lpstr>
      <vt:lpstr>BO.10 Sales Pitch Deck v1</vt:lpstr>
      <vt:lpstr>Boeing Logo Divider Slide_White BG</vt:lpstr>
      <vt:lpstr>Worksheet</vt:lpstr>
      <vt:lpstr>SDA KPI Project Problem Statement Demo</vt:lpstr>
      <vt:lpstr>Problem Statement</vt:lpstr>
      <vt:lpstr>Problem Statement Explanation </vt:lpstr>
      <vt:lpstr>SDA KPI Dashboard</vt:lpstr>
      <vt:lpstr>Admin Page</vt:lpstr>
      <vt:lpstr>Data Visualizations </vt:lpstr>
      <vt:lpstr>Product Level Details</vt:lpstr>
      <vt:lpstr>Technology Stack</vt:lpstr>
      <vt:lpstr>High Level Architecture </vt:lpstr>
      <vt:lpstr>Jira Access</vt:lpstr>
      <vt:lpstr>Detailed view of Problem Statement</vt:lpstr>
      <vt:lpstr>Key Points </vt:lpstr>
      <vt:lpstr>Acceptance Criteria: </vt:lpstr>
      <vt:lpstr>Guidelines</vt:lpstr>
      <vt:lpstr>Communication Channel</vt:lpstr>
    </vt:vector>
  </TitlesOfParts>
  <Company>The Boeing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 Development Plan</dc:title>
  <dc:creator>Pandya, Ronak M;Vallamkondu, Murali M</dc:creator>
  <cp:lastModifiedBy>Alagarsamy, Ganesan</cp:lastModifiedBy>
  <cp:revision>1515</cp:revision>
  <cp:lastPrinted>2022-02-11T11:34:45Z</cp:lastPrinted>
  <dcterms:created xsi:type="dcterms:W3CDTF">2019-08-14T06:33:34Z</dcterms:created>
  <dcterms:modified xsi:type="dcterms:W3CDTF">2022-07-28T05:41:15Z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0x01010054D2FB69D84F3745B4FF2E00F4719B09</vt:lpwstr>
  </property>
</Properties>
</file>